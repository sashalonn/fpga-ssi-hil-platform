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CBCE"/>
          </a:solidFill>
        </a:fill>
      </a:tcStyle>
    </a:wholeTbl>
    <a:band2H>
      <a:tcTxStyle/>
      <a:tcStyle>
        <a:tcBdr/>
        <a:fill>
          <a:solidFill>
            <a:srgbClr val="E6E7E8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D9EA"/>
          </a:solidFill>
        </a:fill>
      </a:tcStyle>
    </a:wholeTbl>
    <a:band2H>
      <a:tcTxStyle/>
      <a:tcStyle>
        <a:tcBdr/>
        <a:fill>
          <a:solidFill>
            <a:srgbClr val="E6EDF5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EEEFEF"/>
          </a:solidFill>
        </a:fill>
      </a:tcStyle>
    </a:wholeTbl>
    <a:band2H>
      <a:tcTxStyle/>
      <a:tcStyle>
        <a:tcBdr/>
        <a:fill>
          <a:solidFill>
            <a:srgbClr val="F7F7F7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1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381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381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9" name="Shape 2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. Presentation title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text"/>
          <p:cNvSpPr txBox="1">
            <a:spLocks noGrp="1"/>
          </p:cNvSpPr>
          <p:nvPr>
            <p:ph type="title"/>
          </p:nvPr>
        </p:nvSpPr>
        <p:spPr>
          <a:xfrm>
            <a:off x="623889" y="1397789"/>
            <a:ext cx="7872411" cy="1692439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3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258472"/>
            <a:ext cx="7872411" cy="2746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4" name="Google Shape;19;p27"/>
          <p:cNvSpPr txBox="1"/>
          <p:nvPr/>
        </p:nvSpPr>
        <p:spPr>
          <a:xfrm>
            <a:off x="593410" y="1106025"/>
            <a:ext cx="1691315" cy="21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8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25/05/2026</a:t>
            </a:r>
          </a:p>
        </p:txBody>
      </p:sp>
      <p:sp>
        <p:nvSpPr>
          <p:cNvPr id="1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.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3" name="Brödtext nivå ett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5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32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2105829"/>
            <a:ext cx="4458654" cy="344099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33" name="Google Shape;30;p29"/>
          <p:cNvSpPr txBox="1">
            <a:spLocks noGrp="1"/>
          </p:cNvSpPr>
          <p:nvPr>
            <p:ph type="body" sz="quarter" idx="21"/>
          </p:nvPr>
        </p:nvSpPr>
        <p:spPr>
          <a:xfrm>
            <a:off x="623888" y="447308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Google Shape;31;p29"/>
          <p:cNvSpPr>
            <a:spLocks noGrp="1"/>
          </p:cNvSpPr>
          <p:nvPr>
            <p:ph type="pic" sz="half" idx="22"/>
          </p:nvPr>
        </p:nvSpPr>
        <p:spPr>
          <a:xfrm>
            <a:off x="5273040" y="890487"/>
            <a:ext cx="6295074" cy="46563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35" name="Google Shape;32;p29" descr="Google Shape;32;p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Google Shape;33;p29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eltext"/>
          <p:cNvSpPr txBox="1">
            <a:spLocks noGrp="1"/>
          </p:cNvSpPr>
          <p:nvPr>
            <p:ph type="title"/>
          </p:nvPr>
        </p:nvSpPr>
        <p:spPr>
          <a:xfrm>
            <a:off x="2093639" y="1932707"/>
            <a:ext cx="8004721" cy="2992586"/>
          </a:xfrm>
          <a:prstGeom prst="rect">
            <a:avLst/>
          </a:prstGeom>
        </p:spPr>
        <p:txBody>
          <a:bodyPr anchor="ctr"/>
          <a:lstStyle>
            <a:lvl1pPr algn="ctr">
              <a:defRPr sz="4400"/>
            </a:lvl1pPr>
          </a:lstStyle>
          <a:p>
            <a:r>
              <a:t>Titeltext</a:t>
            </a:r>
          </a:p>
        </p:txBody>
      </p:sp>
      <p:pic>
        <p:nvPicPr>
          <p:cNvPr id="45" name="Google Shape;37;p30" descr="Google Shape;37;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. 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. Please n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Google Shape;43;p32"/>
          <p:cNvSpPr txBox="1"/>
          <p:nvPr/>
        </p:nvSpPr>
        <p:spPr>
          <a:xfrm>
            <a:off x="623464" y="947814"/>
            <a:ext cx="10852805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>
                <a:solidFill>
                  <a:schemeClr val="accent1"/>
                </a:solidFill>
                <a:latin typeface="Roboto Thin"/>
                <a:ea typeface="Roboto Thin"/>
                <a:cs typeface="Roboto Thin"/>
                <a:sym typeface="Roboto Thin"/>
              </a:defRPr>
            </a:lvl1pPr>
          </a:lstStyle>
          <a:p>
            <a:r>
              <a:t>Please note</a:t>
            </a:r>
          </a:p>
        </p:txBody>
      </p:sp>
      <p:sp>
        <p:nvSpPr>
          <p:cNvPr id="62" name="Google Shape;44;p32"/>
          <p:cNvSpPr txBox="1"/>
          <p:nvPr/>
        </p:nvSpPr>
        <p:spPr>
          <a:xfrm>
            <a:off x="623464" y="1684527"/>
            <a:ext cx="10852805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Please do not take any photos, videos or recordings during the presentation. </a:t>
            </a:r>
            <a:br/>
            <a:r>
              <a:t>Please do not publish or share any information without prior approval from Leine Linde. </a:t>
            </a:r>
          </a:p>
        </p:txBody>
      </p:sp>
      <p:sp>
        <p:nvSpPr>
          <p:cNvPr id="63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442653"/>
            <a:ext cx="6295072" cy="30330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>
                <a:solidFill>
                  <a:schemeClr val="accent1"/>
                </a:solidFill>
              </a:defRPr>
            </a:lvl2pPr>
            <a:lvl3pPr>
              <a:defRPr sz="900">
                <a:solidFill>
                  <a:schemeClr val="accent1"/>
                </a:solidFill>
              </a:defRPr>
            </a:lvl3pPr>
            <a:lvl4pPr>
              <a:defRPr sz="900">
                <a:solidFill>
                  <a:schemeClr val="accent1"/>
                </a:solidFill>
              </a:defRPr>
            </a:lvl4pPr>
            <a:lvl5pPr>
              <a:defRPr sz="9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6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eltext"/>
          <p:cNvSpPr txBox="1">
            <a:spLocks noGrp="1"/>
          </p:cNvSpPr>
          <p:nvPr>
            <p:ph type="title"/>
          </p:nvPr>
        </p:nvSpPr>
        <p:spPr>
          <a:xfrm>
            <a:off x="639235" y="2516552"/>
            <a:ext cx="7234412" cy="2935320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Titeltext</a:t>
            </a:r>
          </a:p>
        </p:txBody>
      </p:sp>
      <p:sp>
        <p:nvSpPr>
          <p:cNvPr id="72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eltext"/>
          <p:cNvSpPr txBox="1">
            <a:spLocks noGrp="1"/>
          </p:cNvSpPr>
          <p:nvPr>
            <p:ph type="title"/>
          </p:nvPr>
        </p:nvSpPr>
        <p:spPr>
          <a:xfrm>
            <a:off x="639235" y="2516552"/>
            <a:ext cx="7234412" cy="2935320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80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. Chapter titl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65;p35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8" name="Titeltext"/>
          <p:cNvSpPr txBox="1">
            <a:spLocks noGrp="1"/>
          </p:cNvSpPr>
          <p:nvPr>
            <p:ph type="title"/>
          </p:nvPr>
        </p:nvSpPr>
        <p:spPr>
          <a:xfrm>
            <a:off x="639235" y="3632886"/>
            <a:ext cx="7234412" cy="1818988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FFFFFF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89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3. Product highligh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8;p36"/>
          <p:cNvSpPr/>
          <p:nvPr/>
        </p:nvSpPr>
        <p:spPr>
          <a:xfrm>
            <a:off x="4286250" y="-955963"/>
            <a:ext cx="7905750" cy="8382001"/>
          </a:xfrm>
          <a:prstGeom prst="rect">
            <a:avLst/>
          </a:prstGeom>
          <a:gradFill>
            <a:gsLst>
              <a:gs pos="0">
                <a:srgbClr val="2FA0D0"/>
              </a:gs>
              <a:gs pos="71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endParaRPr/>
          </a:p>
        </p:txBody>
      </p:sp>
      <p:sp>
        <p:nvSpPr>
          <p:cNvPr id="97" name="Google Shape;69;p36"/>
          <p:cNvSpPr>
            <a:spLocks noGrp="1"/>
          </p:cNvSpPr>
          <p:nvPr>
            <p:ph type="pic" idx="21"/>
          </p:nvPr>
        </p:nvSpPr>
        <p:spPr>
          <a:xfrm>
            <a:off x="5162558" y="409241"/>
            <a:ext cx="5965166" cy="575806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8" name="Titeltext"/>
          <p:cNvSpPr txBox="1">
            <a:spLocks noGrp="1"/>
          </p:cNvSpPr>
          <p:nvPr>
            <p:ph type="title"/>
          </p:nvPr>
        </p:nvSpPr>
        <p:spPr>
          <a:xfrm>
            <a:off x="623887" y="511276"/>
            <a:ext cx="4203890" cy="243015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t>Titeltext</a:t>
            </a:r>
          </a:p>
        </p:txBody>
      </p:sp>
      <p:sp>
        <p:nvSpPr>
          <p:cNvPr id="99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158837"/>
            <a:ext cx="4203890" cy="1759452"/>
          </a:xfrm>
          <a:prstGeom prst="rect">
            <a:avLst/>
          </a:prstGeom>
        </p:spPr>
        <p:txBody>
          <a:bodyPr/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pic>
        <p:nvPicPr>
          <p:cNvPr id="100" name="Google Shape;73;p36" descr="Google Shape;73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10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2105829"/>
            <a:ext cx="4458654" cy="345302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11" name="Google Shape;78;p37"/>
          <p:cNvSpPr txBox="1">
            <a:spLocks noGrp="1"/>
          </p:cNvSpPr>
          <p:nvPr>
            <p:ph type="body" sz="quarter" idx="21"/>
          </p:nvPr>
        </p:nvSpPr>
        <p:spPr>
          <a:xfrm>
            <a:off x="623888" y="44499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Google Shape;79;p37"/>
          <p:cNvSpPr>
            <a:spLocks noGrp="1"/>
          </p:cNvSpPr>
          <p:nvPr>
            <p:ph type="pic" sz="half" idx="22"/>
          </p:nvPr>
        </p:nvSpPr>
        <p:spPr>
          <a:xfrm>
            <a:off x="5273040" y="890487"/>
            <a:ext cx="6295074" cy="466836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3" name="Google Shape;80;p37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2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iteltext"/>
          <p:cNvSpPr txBox="1">
            <a:spLocks noGrp="1"/>
          </p:cNvSpPr>
          <p:nvPr>
            <p:ph type="title"/>
          </p:nvPr>
        </p:nvSpPr>
        <p:spPr>
          <a:xfrm>
            <a:off x="623889" y="890487"/>
            <a:ext cx="6302691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23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05829"/>
            <a:ext cx="6302693" cy="34410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24" name="Google Shape;85;p38"/>
          <p:cNvSpPr>
            <a:spLocks noGrp="1"/>
          </p:cNvSpPr>
          <p:nvPr>
            <p:ph type="pic" sz="half" idx="21"/>
          </p:nvPr>
        </p:nvSpPr>
        <p:spPr>
          <a:xfrm>
            <a:off x="7132318" y="623123"/>
            <a:ext cx="4435795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Google Shape;86;p38"/>
          <p:cNvSpPr txBox="1">
            <a:spLocks noGrp="1"/>
          </p:cNvSpPr>
          <p:nvPr>
            <p:ph type="body" sz="quarter" idx="22"/>
          </p:nvPr>
        </p:nvSpPr>
        <p:spPr>
          <a:xfrm>
            <a:off x="623887" y="444991"/>
            <a:ext cx="7200901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3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eltext"/>
          <p:cNvSpPr txBox="1">
            <a:spLocks noGrp="1"/>
          </p:cNvSpPr>
          <p:nvPr>
            <p:ph type="title"/>
          </p:nvPr>
        </p:nvSpPr>
        <p:spPr>
          <a:xfrm>
            <a:off x="5265423" y="1028737"/>
            <a:ext cx="6302693" cy="984176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34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5265422" y="2244076"/>
            <a:ext cx="6302691" cy="330275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35" name="Google Shape;91;p39"/>
          <p:cNvSpPr txBox="1">
            <a:spLocks noGrp="1"/>
          </p:cNvSpPr>
          <p:nvPr>
            <p:ph type="body" sz="quarter" idx="21"/>
          </p:nvPr>
        </p:nvSpPr>
        <p:spPr>
          <a:xfrm>
            <a:off x="5265420" y="623123"/>
            <a:ext cx="6302696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Google Shape;92;p39"/>
          <p:cNvSpPr>
            <a:spLocks noGrp="1"/>
          </p:cNvSpPr>
          <p:nvPr>
            <p:ph type="pic" sz="half" idx="22"/>
          </p:nvPr>
        </p:nvSpPr>
        <p:spPr>
          <a:xfrm>
            <a:off x="623887" y="623123"/>
            <a:ext cx="4435794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37" name="Google Shape;93;p39" descr="Google Shape;93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4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eltext"/>
          <p:cNvSpPr txBox="1">
            <a:spLocks noGrp="1"/>
          </p:cNvSpPr>
          <p:nvPr>
            <p:ph type="title"/>
          </p:nvPr>
        </p:nvSpPr>
        <p:spPr>
          <a:xfrm>
            <a:off x="7109459" y="896503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46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109459" y="2111846"/>
            <a:ext cx="4458652" cy="3434973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47" name="Google Shape;98;p40"/>
          <p:cNvSpPr txBox="1">
            <a:spLocks noGrp="1"/>
          </p:cNvSpPr>
          <p:nvPr>
            <p:ph type="body" sz="quarter" idx="21"/>
          </p:nvPr>
        </p:nvSpPr>
        <p:spPr>
          <a:xfrm>
            <a:off x="646746" y="447341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Google Shape;99;p40"/>
          <p:cNvSpPr>
            <a:spLocks noGrp="1"/>
          </p:cNvSpPr>
          <p:nvPr>
            <p:ph type="pic" sz="half" idx="22"/>
          </p:nvPr>
        </p:nvSpPr>
        <p:spPr>
          <a:xfrm>
            <a:off x="646748" y="896503"/>
            <a:ext cx="6295074" cy="46503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49" name="Google Shape;100;p40" descr="Google Shape;100;p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Google Shape;101;p40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1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6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eltext"/>
          <p:cNvSpPr txBox="1">
            <a:spLocks noGrp="1"/>
          </p:cNvSpPr>
          <p:nvPr>
            <p:ph type="title"/>
          </p:nvPr>
        </p:nvSpPr>
        <p:spPr>
          <a:xfrm>
            <a:off x="623889" y="896503"/>
            <a:ext cx="6302691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59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11847"/>
            <a:ext cx="6302693" cy="343498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60" name="Google Shape;106;p41"/>
          <p:cNvSpPr>
            <a:spLocks noGrp="1"/>
          </p:cNvSpPr>
          <p:nvPr>
            <p:ph type="pic" sz="half" idx="21"/>
          </p:nvPr>
        </p:nvSpPr>
        <p:spPr>
          <a:xfrm>
            <a:off x="7132318" y="623123"/>
            <a:ext cx="4435795" cy="4923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161" name="Google Shape;107;p41" descr="Google Shape;107;p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Google Shape;108;p41"/>
          <p:cNvSpPr txBox="1">
            <a:spLocks noGrp="1"/>
          </p:cNvSpPr>
          <p:nvPr>
            <p:ph type="body" sz="quarter" idx="22"/>
          </p:nvPr>
        </p:nvSpPr>
        <p:spPr>
          <a:xfrm>
            <a:off x="623888" y="447308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7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5;p26" descr="Google Shape;1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iteltext"/>
          <p:cNvSpPr txBox="1">
            <a:spLocks noGrp="1"/>
          </p:cNvSpPr>
          <p:nvPr>
            <p:ph type="title"/>
          </p:nvPr>
        </p:nvSpPr>
        <p:spPr>
          <a:xfrm>
            <a:off x="7109459" y="890487"/>
            <a:ext cx="4458652" cy="98417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72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109459" y="2105829"/>
            <a:ext cx="4458652" cy="344099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73" name="Google Shape;113;p42"/>
          <p:cNvSpPr txBox="1">
            <a:spLocks noGrp="1"/>
          </p:cNvSpPr>
          <p:nvPr>
            <p:ph type="body" sz="quarter" idx="21"/>
          </p:nvPr>
        </p:nvSpPr>
        <p:spPr>
          <a:xfrm>
            <a:off x="646746" y="442653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Google Shape;114;p42"/>
          <p:cNvSpPr>
            <a:spLocks noGrp="1"/>
          </p:cNvSpPr>
          <p:nvPr>
            <p:ph type="pic" sz="half" idx="22"/>
          </p:nvPr>
        </p:nvSpPr>
        <p:spPr>
          <a:xfrm>
            <a:off x="646748" y="890487"/>
            <a:ext cx="6295074" cy="46563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5" name="Google Shape;115;p42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185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1721037"/>
            <a:ext cx="10944226" cy="4085952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86" name="Google Shape;120;p43"/>
          <p:cNvSpPr txBox="1">
            <a:spLocks noGrp="1"/>
          </p:cNvSpPr>
          <p:nvPr>
            <p:ph type="body" sz="quarter" idx="21"/>
          </p:nvPr>
        </p:nvSpPr>
        <p:spPr>
          <a:xfrm>
            <a:off x="623884" y="442653"/>
            <a:ext cx="6295077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Google Shape;121;p43"/>
          <p:cNvSpPr txBox="1">
            <a:spLocks noGrp="1"/>
          </p:cNvSpPr>
          <p:nvPr>
            <p:ph type="body" sz="quarter" idx="22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eltext"/>
          <p:cNvSpPr txBox="1">
            <a:spLocks noGrp="1"/>
          </p:cNvSpPr>
          <p:nvPr>
            <p:ph type="title"/>
          </p:nvPr>
        </p:nvSpPr>
        <p:spPr>
          <a:xfrm>
            <a:off x="623887" y="824913"/>
            <a:ext cx="10944226" cy="6625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Titeltext</a:t>
            </a:r>
          </a:p>
        </p:txBody>
      </p:sp>
      <p:sp>
        <p:nvSpPr>
          <p:cNvPr id="196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1721037"/>
            <a:ext cx="10944226" cy="408595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97" name="Google Shape;126;p44"/>
          <p:cNvSpPr txBox="1">
            <a:spLocks noGrp="1"/>
          </p:cNvSpPr>
          <p:nvPr>
            <p:ph type="body" sz="quarter" idx="21"/>
          </p:nvPr>
        </p:nvSpPr>
        <p:spPr>
          <a:xfrm>
            <a:off x="623888" y="442650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98" name="Google Shape;127;p44" descr="Google Shape;127;p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51" y="5999524"/>
            <a:ext cx="1852348" cy="35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Google Shape;128;p44"/>
          <p:cNvSpPr txBox="1">
            <a:spLocks noGrp="1"/>
          </p:cNvSpPr>
          <p:nvPr>
            <p:ph type="body" sz="quarter" idx="22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0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Google Shape;131;p45"/>
          <p:cNvSpPr>
            <a:spLocks noGrp="1"/>
          </p:cNvSpPr>
          <p:nvPr>
            <p:ph type="pic" sz="half" idx="21"/>
          </p:nvPr>
        </p:nvSpPr>
        <p:spPr>
          <a:xfrm>
            <a:off x="8054340" y="447341"/>
            <a:ext cx="3507757" cy="53514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09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9905" y="1721037"/>
            <a:ext cx="7194885" cy="408595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10" name="Titeltext"/>
          <p:cNvSpPr txBox="1">
            <a:spLocks noGrp="1"/>
          </p:cNvSpPr>
          <p:nvPr>
            <p:ph type="title"/>
          </p:nvPr>
        </p:nvSpPr>
        <p:spPr>
          <a:xfrm>
            <a:off x="623887" y="821420"/>
            <a:ext cx="7239953" cy="662559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11" name="Google Shape;134;p45"/>
          <p:cNvSpPr txBox="1">
            <a:spLocks noGrp="1"/>
          </p:cNvSpPr>
          <p:nvPr>
            <p:ph type="body" sz="quarter" idx="22"/>
          </p:nvPr>
        </p:nvSpPr>
        <p:spPr>
          <a:xfrm>
            <a:off x="623888" y="44734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2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1721037"/>
            <a:ext cx="5364165" cy="4085954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21" name="Google Shape;138;p46"/>
          <p:cNvSpPr txBox="1">
            <a:spLocks noGrp="1"/>
          </p:cNvSpPr>
          <p:nvPr>
            <p:ph type="body" sz="half" idx="21"/>
          </p:nvPr>
        </p:nvSpPr>
        <p:spPr>
          <a:xfrm>
            <a:off x="6203948" y="1721037"/>
            <a:ext cx="5364165" cy="40859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23" name="Google Shape;140;p46"/>
          <p:cNvSpPr txBox="1">
            <a:spLocks noGrp="1"/>
          </p:cNvSpPr>
          <p:nvPr>
            <p:ph type="body" sz="quarter" idx="22"/>
          </p:nvPr>
        </p:nvSpPr>
        <p:spPr>
          <a:xfrm>
            <a:off x="623888" y="441323"/>
            <a:ext cx="7239952" cy="30330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" name="Google Shape;141;p46"/>
          <p:cNvSpPr txBox="1">
            <a:spLocks noGrp="1"/>
          </p:cNvSpPr>
          <p:nvPr>
            <p:ph type="body" sz="quarter" idx="23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Titeltext"/>
          <p:cNvSpPr txBox="1">
            <a:spLocks noGrp="1"/>
          </p:cNvSpPr>
          <p:nvPr>
            <p:ph type="title"/>
          </p:nvPr>
        </p:nvSpPr>
        <p:spPr>
          <a:xfrm>
            <a:off x="623468" y="824563"/>
            <a:ext cx="10944226" cy="65178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34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623887" y="2109609"/>
            <a:ext cx="5364165" cy="3697386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35" name="Google Shape;146;p47"/>
          <p:cNvSpPr txBox="1">
            <a:spLocks noGrp="1"/>
          </p:cNvSpPr>
          <p:nvPr>
            <p:ph type="body" sz="half" idx="21"/>
          </p:nvPr>
        </p:nvSpPr>
        <p:spPr>
          <a:xfrm>
            <a:off x="6203950" y="2109611"/>
            <a:ext cx="5364163" cy="36973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Google Shape;147;p47"/>
          <p:cNvSpPr txBox="1">
            <a:spLocks noGrp="1"/>
          </p:cNvSpPr>
          <p:nvPr>
            <p:ph type="body" sz="quarter" idx="22"/>
          </p:nvPr>
        </p:nvSpPr>
        <p:spPr>
          <a:xfrm>
            <a:off x="623885" y="1629105"/>
            <a:ext cx="5363747" cy="370247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7" name="Google Shape;148;p47"/>
          <p:cNvSpPr txBox="1">
            <a:spLocks noGrp="1"/>
          </p:cNvSpPr>
          <p:nvPr>
            <p:ph type="body" sz="quarter" idx="23"/>
          </p:nvPr>
        </p:nvSpPr>
        <p:spPr>
          <a:xfrm>
            <a:off x="6203951" y="1629105"/>
            <a:ext cx="5363745" cy="382577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38" name="Google Shape;149;p47"/>
          <p:cNvSpPr txBox="1">
            <a:spLocks noGrp="1"/>
          </p:cNvSpPr>
          <p:nvPr>
            <p:ph type="body" sz="quarter" idx="24"/>
          </p:nvPr>
        </p:nvSpPr>
        <p:spPr>
          <a:xfrm>
            <a:off x="623888" y="445070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9" name="Google Shape;150;p47"/>
          <p:cNvSpPr txBox="1">
            <a:spLocks noGrp="1"/>
          </p:cNvSpPr>
          <p:nvPr>
            <p:ph type="body" sz="quarter" idx="25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6256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49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4012257"/>
            <a:ext cx="5373054" cy="322265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20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50" name="Google Shape;155;p48"/>
          <p:cNvSpPr txBox="1">
            <a:spLocks noGrp="1"/>
          </p:cNvSpPr>
          <p:nvPr>
            <p:ph type="body" sz="quarter" idx="21"/>
          </p:nvPr>
        </p:nvSpPr>
        <p:spPr>
          <a:xfrm>
            <a:off x="623884" y="4449107"/>
            <a:ext cx="5373056" cy="135788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" name="Google Shape;156;p48"/>
          <p:cNvSpPr>
            <a:spLocks noGrp="1"/>
          </p:cNvSpPr>
          <p:nvPr>
            <p:ph type="pic" sz="quarter" idx="22"/>
          </p:nvPr>
        </p:nvSpPr>
        <p:spPr>
          <a:xfrm>
            <a:off x="623887" y="1635771"/>
            <a:ext cx="5373054" cy="21240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2" name="Google Shape;157;p48"/>
          <p:cNvSpPr txBox="1">
            <a:spLocks noGrp="1"/>
          </p:cNvSpPr>
          <p:nvPr>
            <p:ph type="body" sz="quarter" idx="23"/>
          </p:nvPr>
        </p:nvSpPr>
        <p:spPr>
          <a:xfrm>
            <a:off x="6195062" y="4012257"/>
            <a:ext cx="5373054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53" name="Google Shape;158;p48"/>
          <p:cNvSpPr txBox="1">
            <a:spLocks noGrp="1"/>
          </p:cNvSpPr>
          <p:nvPr>
            <p:ph type="body" sz="quarter" idx="24"/>
          </p:nvPr>
        </p:nvSpPr>
        <p:spPr>
          <a:xfrm>
            <a:off x="6195058" y="4449107"/>
            <a:ext cx="5373054" cy="135788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Google Shape;159;p48"/>
          <p:cNvSpPr>
            <a:spLocks noGrp="1"/>
          </p:cNvSpPr>
          <p:nvPr>
            <p:ph type="pic" sz="quarter" idx="25"/>
          </p:nvPr>
        </p:nvSpPr>
        <p:spPr>
          <a:xfrm>
            <a:off x="6195062" y="1635771"/>
            <a:ext cx="5373054" cy="21240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55" name="Google Shape;160;p48"/>
          <p:cNvSpPr txBox="1">
            <a:spLocks noGrp="1"/>
          </p:cNvSpPr>
          <p:nvPr>
            <p:ph type="body" sz="quarter" idx="26"/>
          </p:nvPr>
        </p:nvSpPr>
        <p:spPr>
          <a:xfrm>
            <a:off x="623888" y="447341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6" name="Google Shape;161;p48"/>
          <p:cNvSpPr txBox="1">
            <a:spLocks noGrp="1"/>
          </p:cNvSpPr>
          <p:nvPr>
            <p:ph type="body" sz="quarter" idx="27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. Content 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eltext"/>
          <p:cNvSpPr txBox="1">
            <a:spLocks noGrp="1"/>
          </p:cNvSpPr>
          <p:nvPr>
            <p:ph type="title"/>
          </p:nvPr>
        </p:nvSpPr>
        <p:spPr>
          <a:xfrm>
            <a:off x="623887" y="824314"/>
            <a:ext cx="10944226" cy="650292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66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623887" y="3999989"/>
            <a:ext cx="3527327" cy="322265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20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67" name="Google Shape;166;p49"/>
          <p:cNvSpPr txBox="1">
            <a:spLocks noGrp="1"/>
          </p:cNvSpPr>
          <p:nvPr>
            <p:ph type="body" sz="quarter" idx="21"/>
          </p:nvPr>
        </p:nvSpPr>
        <p:spPr>
          <a:xfrm>
            <a:off x="623886" y="4410376"/>
            <a:ext cx="3527328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8" name="Google Shape;167;p49"/>
          <p:cNvSpPr>
            <a:spLocks noGrp="1"/>
          </p:cNvSpPr>
          <p:nvPr>
            <p:ph type="pic" sz="quarter" idx="22"/>
          </p:nvPr>
        </p:nvSpPr>
        <p:spPr>
          <a:xfrm>
            <a:off x="623890" y="1623501"/>
            <a:ext cx="3527324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9" name="Google Shape;168;p49"/>
          <p:cNvSpPr txBox="1">
            <a:spLocks noGrp="1"/>
          </p:cNvSpPr>
          <p:nvPr>
            <p:ph type="body" sz="quarter" idx="23"/>
          </p:nvPr>
        </p:nvSpPr>
        <p:spPr>
          <a:xfrm>
            <a:off x="4349750" y="3999989"/>
            <a:ext cx="3492500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70" name="Google Shape;169;p49"/>
          <p:cNvSpPr txBox="1">
            <a:spLocks noGrp="1"/>
          </p:cNvSpPr>
          <p:nvPr>
            <p:ph type="body" sz="quarter" idx="24"/>
          </p:nvPr>
        </p:nvSpPr>
        <p:spPr>
          <a:xfrm>
            <a:off x="4349747" y="4410376"/>
            <a:ext cx="3492503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1" name="Google Shape;170;p49"/>
          <p:cNvSpPr txBox="1">
            <a:spLocks noGrp="1"/>
          </p:cNvSpPr>
          <p:nvPr>
            <p:ph type="body" sz="quarter" idx="25"/>
          </p:nvPr>
        </p:nvSpPr>
        <p:spPr>
          <a:xfrm>
            <a:off x="8049124" y="3999989"/>
            <a:ext cx="3518989" cy="3222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272" name="Google Shape;171;p49"/>
          <p:cNvSpPr txBox="1">
            <a:spLocks noGrp="1"/>
          </p:cNvSpPr>
          <p:nvPr>
            <p:ph type="body" sz="quarter" idx="26"/>
          </p:nvPr>
        </p:nvSpPr>
        <p:spPr>
          <a:xfrm>
            <a:off x="8050210" y="4410376"/>
            <a:ext cx="3517899" cy="13966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" name="Google Shape;172;p49"/>
          <p:cNvSpPr>
            <a:spLocks noGrp="1"/>
          </p:cNvSpPr>
          <p:nvPr>
            <p:ph type="pic" sz="quarter" idx="27"/>
          </p:nvPr>
        </p:nvSpPr>
        <p:spPr>
          <a:xfrm>
            <a:off x="4349750" y="1623501"/>
            <a:ext cx="3492500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4" name="Google Shape;173;p49"/>
          <p:cNvSpPr>
            <a:spLocks noGrp="1"/>
          </p:cNvSpPr>
          <p:nvPr>
            <p:ph type="pic" sz="quarter" idx="28"/>
          </p:nvPr>
        </p:nvSpPr>
        <p:spPr>
          <a:xfrm>
            <a:off x="8050210" y="1623501"/>
            <a:ext cx="3527428" cy="21240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5" name="Google Shape;174;p49"/>
          <p:cNvSpPr txBox="1">
            <a:spLocks noGrp="1"/>
          </p:cNvSpPr>
          <p:nvPr>
            <p:ph type="body" sz="quarter" idx="29"/>
          </p:nvPr>
        </p:nvSpPr>
        <p:spPr>
          <a:xfrm>
            <a:off x="623888" y="442647"/>
            <a:ext cx="7239952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6" name="Google Shape;175;p49"/>
          <p:cNvSpPr txBox="1">
            <a:spLocks noGrp="1"/>
          </p:cNvSpPr>
          <p:nvPr>
            <p:ph type="body" sz="quarter" idx="30"/>
          </p:nvPr>
        </p:nvSpPr>
        <p:spPr>
          <a:xfrm>
            <a:off x="8204199" y="444991"/>
            <a:ext cx="3434480" cy="30330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7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15;p26" descr="Google Shape;15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23" y="6014103"/>
            <a:ext cx="1824121" cy="347745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1421568" y="6105488"/>
            <a:ext cx="217109" cy="2183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. End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28"/>
          <p:cNvSpPr txBox="1"/>
          <p:nvPr/>
        </p:nvSpPr>
        <p:spPr>
          <a:xfrm>
            <a:off x="594364" y="1106147"/>
            <a:ext cx="1691316" cy="21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25/05/2026</a:t>
            </a:r>
          </a:p>
        </p:txBody>
      </p:sp>
      <p:sp>
        <p:nvSpPr>
          <p:cNvPr id="3" name="Titeltext"/>
          <p:cNvSpPr txBox="1">
            <a:spLocks noGrp="1"/>
          </p:cNvSpPr>
          <p:nvPr>
            <p:ph type="title"/>
          </p:nvPr>
        </p:nvSpPr>
        <p:spPr>
          <a:xfrm>
            <a:off x="623887" y="2086816"/>
            <a:ext cx="10944226" cy="276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normAutofit/>
          </a:bodyPr>
          <a:lstStyle/>
          <a:p>
            <a:r>
              <a:t>Titeltext</a:t>
            </a:r>
          </a:p>
        </p:txBody>
      </p:sp>
      <p:sp>
        <p:nvSpPr>
          <p:cNvPr id="4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623887" y="4976159"/>
            <a:ext cx="10944226" cy="27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8520491" y="6247151"/>
            <a:ext cx="217109" cy="218399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8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600" b="0" i="0" u="none" strike="noStrike" cap="none" spc="0" baseline="0">
          <a:solidFill>
            <a:srgbClr val="5FB6DC"/>
          </a:solidFill>
          <a:uFillTx/>
          <a:latin typeface="Roboto Thin"/>
          <a:ea typeface="Roboto Thin"/>
          <a:cs typeface="Roboto Thin"/>
          <a:sym typeface="Roboto Thin"/>
        </a:defRPr>
      </a:lvl9pPr>
    </p:titleStyle>
    <p:bodyStyle>
      <a:lvl1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1pPr>
      <a:lvl2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2pPr>
      <a:lvl3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3pPr>
      <a:lvl4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4pPr>
      <a:lvl5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5pPr>
      <a:lvl6pPr marL="30480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6pPr>
      <a:lvl7pPr marL="35052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7pPr>
      <a:lvl8pPr marL="39624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8pPr>
      <a:lvl9pPr marL="4419600" marR="0" indent="-4191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200"/>
        <a:buFontTx/>
        <a:buChar char="•"/>
        <a:tabLst/>
        <a:defRPr sz="2200" b="0" i="0" u="none" strike="noStrike" cap="none" spc="0" baseline="0">
          <a:solidFill>
            <a:srgbClr val="5FB6DC"/>
          </a:solidFill>
          <a:uFillTx/>
          <a:latin typeface="Roboto Light"/>
          <a:ea typeface="Roboto Light"/>
          <a:cs typeface="Roboto Light"/>
          <a:sym typeface="Roboto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86;p1"/>
          <p:cNvSpPr txBox="1">
            <a:spLocks noGrp="1"/>
          </p:cNvSpPr>
          <p:nvPr>
            <p:ph type="ctrTitle"/>
          </p:nvPr>
        </p:nvSpPr>
        <p:spPr>
          <a:xfrm>
            <a:off x="623888" y="1397789"/>
            <a:ext cx="9583103" cy="1692439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Modifiering</a:t>
            </a:r>
            <a:r>
              <a:rPr dirty="0"/>
              <a:t> av SSI-</a:t>
            </a:r>
            <a:r>
              <a:rPr dirty="0" err="1"/>
              <a:t>protokoll</a:t>
            </a:r>
            <a:r>
              <a:t> </a:t>
            </a:r>
            <a:endParaRPr dirty="0"/>
          </a:p>
        </p:txBody>
      </p:sp>
      <p:sp>
        <p:nvSpPr>
          <p:cNvPr id="302" name="Google Shape;187;p1"/>
          <p:cNvSpPr txBox="1">
            <a:spLocks noGrp="1"/>
          </p:cNvSpPr>
          <p:nvPr>
            <p:ph type="subTitle" sz="quarter" idx="1"/>
          </p:nvPr>
        </p:nvSpPr>
        <p:spPr>
          <a:xfrm>
            <a:off x="623886" y="3258472"/>
            <a:ext cx="7872411" cy="274640"/>
          </a:xfrm>
          <a:prstGeom prst="rect">
            <a:avLst/>
          </a:prstGeom>
        </p:spPr>
        <p:txBody>
          <a:bodyPr/>
          <a:lstStyle>
            <a:lvl1pPr indent="0" defTabSz="777240">
              <a:spcBef>
                <a:spcPts val="0"/>
              </a:spcBef>
              <a:defRPr sz="1800"/>
            </a:lvl1pPr>
          </a:lstStyle>
          <a:p>
            <a:r>
              <a:rPr dirty="0"/>
              <a:t>Oleksandra </a:t>
            </a:r>
            <a:r>
              <a:rPr dirty="0" err="1"/>
              <a:t>Soloviova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192;p2"/>
          <p:cNvGrpSpPr/>
          <p:nvPr/>
        </p:nvGrpSpPr>
        <p:grpSpPr>
          <a:xfrm>
            <a:off x="563838" y="697857"/>
            <a:ext cx="11235720" cy="3093496"/>
            <a:chOff x="-71383" y="105594"/>
            <a:chExt cx="11235719" cy="3093495"/>
          </a:xfrm>
        </p:grpSpPr>
        <p:sp>
          <p:nvSpPr>
            <p:cNvPr id="304" name="Google Shape;193;p2"/>
            <p:cNvSpPr/>
            <p:nvPr/>
          </p:nvSpPr>
          <p:spPr>
            <a:xfrm>
              <a:off x="-71383" y="360784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5" name="Google Shape;194;p2"/>
            <p:cNvSpPr/>
            <p:nvPr/>
          </p:nvSpPr>
          <p:spPr>
            <a:xfrm>
              <a:off x="535458" y="272671"/>
              <a:ext cx="7815036" cy="72157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6" name="Google Shape;195;p2"/>
            <p:cNvSpPr/>
            <p:nvPr/>
          </p:nvSpPr>
          <p:spPr>
            <a:xfrm>
              <a:off x="798935" y="105594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 dirty="0"/>
            </a:p>
            <a:p>
              <a:pPr>
                <a:lnSpc>
                  <a:spcPct val="90000"/>
                </a:lnSpc>
                <a:spcBef>
                  <a:spcPts val="600"/>
                </a:spcBef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 dirty="0"/>
            </a:p>
            <a:p>
              <a:pPr>
                <a:lnSpc>
                  <a:spcPct val="90000"/>
                </a:lnSpc>
                <a:spcBef>
                  <a:spcPts val="600"/>
                </a:spcBef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rPr dirty="0" err="1"/>
                <a:t>Mål</a:t>
              </a:r>
              <a:r>
                <a:rPr dirty="0"/>
                <a:t>: </a:t>
              </a:r>
              <a:r>
                <a:rPr dirty="0" err="1"/>
                <a:t>anpassa</a:t>
              </a:r>
              <a:r>
                <a:rPr dirty="0"/>
                <a:t> SSI‑</a:t>
              </a:r>
              <a:r>
                <a:rPr dirty="0" err="1"/>
                <a:t>kommunikationen</a:t>
              </a:r>
              <a:r>
                <a:rPr dirty="0"/>
                <a:t> </a:t>
              </a:r>
              <a:r>
                <a:rPr dirty="0" err="1"/>
                <a:t>i</a:t>
              </a:r>
              <a:r>
                <a:rPr dirty="0"/>
                <a:t> Encodes 600 </a:t>
              </a:r>
              <a:r>
                <a:rPr dirty="0" err="1"/>
                <a:t>efter</a:t>
              </a:r>
              <a:r>
                <a:rPr dirty="0"/>
                <a:t> </a:t>
              </a:r>
              <a:r>
                <a:rPr dirty="0" err="1"/>
                <a:t>kundkrav</a:t>
              </a:r>
              <a:endParaRPr dirty="0"/>
            </a:p>
          </p:txBody>
        </p:sp>
        <p:sp>
          <p:nvSpPr>
            <p:cNvPr id="307" name="Google Shape;196;p2"/>
            <p:cNvSpPr/>
            <p:nvPr/>
          </p:nvSpPr>
          <p:spPr>
            <a:xfrm>
              <a:off x="-1" y="1469539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8" name="Google Shape;197;p2"/>
            <p:cNvSpPr/>
            <p:nvPr/>
          </p:nvSpPr>
          <p:spPr>
            <a:xfrm>
              <a:off x="508722" y="1418097"/>
              <a:ext cx="7815036" cy="72157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09" name="Google Shape;198;p2"/>
            <p:cNvSpPr/>
            <p:nvPr/>
          </p:nvSpPr>
          <p:spPr>
            <a:xfrm>
              <a:off x="848426" y="1691406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90000"/>
                </a:lnSpc>
                <a:defRPr sz="2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/>
                <a:t>Period: 10 </a:t>
              </a:r>
              <a:r>
                <a:rPr dirty="0" err="1"/>
                <a:t>veckor</a:t>
              </a:r>
              <a:r>
                <a:rPr dirty="0"/>
                <a:t> </a:t>
              </a:r>
              <a:r>
                <a:rPr dirty="0" err="1"/>
                <a:t>från</a:t>
              </a:r>
              <a:r>
                <a:rPr dirty="0"/>
                <a:t> 23 </a:t>
              </a:r>
              <a:r>
                <a:rPr dirty="0" err="1"/>
                <a:t>april</a:t>
              </a:r>
              <a:r>
                <a:rPr dirty="0"/>
                <a:t> till 29 </a:t>
              </a:r>
              <a:r>
                <a:rPr dirty="0" err="1"/>
                <a:t>maj</a:t>
              </a:r>
              <a:r>
                <a:rPr dirty="0"/>
                <a:t> 2026</a:t>
              </a:r>
            </a:p>
          </p:txBody>
        </p:sp>
        <p:sp>
          <p:nvSpPr>
            <p:cNvPr id="310" name="Google Shape;199;p2"/>
            <p:cNvSpPr/>
            <p:nvPr/>
          </p:nvSpPr>
          <p:spPr>
            <a:xfrm>
              <a:off x="-1" y="2578293"/>
              <a:ext cx="11164337" cy="615977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11" name="Google Shape;200;p2"/>
            <p:cNvSpPr/>
            <p:nvPr/>
          </p:nvSpPr>
          <p:spPr>
            <a:xfrm>
              <a:off x="508722" y="2573473"/>
              <a:ext cx="7815037" cy="6256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12" name="Google Shape;201;p2"/>
            <p:cNvSpPr/>
            <p:nvPr/>
          </p:nvSpPr>
          <p:spPr>
            <a:xfrm>
              <a:off x="798935" y="2774805"/>
              <a:ext cx="72346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90000"/>
                </a:lnSpc>
                <a:defRPr sz="2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Syfte</a:t>
              </a:r>
              <a:r>
                <a:rPr dirty="0"/>
                <a:t>: </a:t>
              </a:r>
              <a:r>
                <a:rPr dirty="0" err="1"/>
                <a:t>få</a:t>
              </a:r>
              <a:r>
                <a:rPr dirty="0"/>
                <a:t> </a:t>
              </a:r>
              <a:r>
                <a:rPr dirty="0" err="1"/>
                <a:t>erfarenhet</a:t>
              </a:r>
              <a:r>
                <a:rPr dirty="0"/>
                <a:t> av </a:t>
              </a:r>
              <a:r>
                <a:rPr dirty="0" err="1"/>
                <a:t>kundprojekt</a:t>
              </a:r>
              <a:r>
                <a:rPr dirty="0"/>
                <a:t> </a:t>
              </a:r>
              <a:r>
                <a:rPr dirty="0" err="1"/>
                <a:t>i</a:t>
              </a:r>
              <a:r>
                <a:rPr dirty="0"/>
                <a:t> </a:t>
              </a:r>
              <a:r>
                <a:rPr dirty="0" err="1"/>
                <a:t>en</a:t>
              </a:r>
              <a:r>
                <a:rPr dirty="0"/>
                <a:t> </a:t>
              </a:r>
              <a:r>
                <a:rPr dirty="0" err="1"/>
                <a:t>industriell</a:t>
              </a:r>
              <a:r>
                <a:rPr dirty="0"/>
                <a:t> </a:t>
              </a:r>
              <a:r>
                <a:rPr dirty="0" err="1"/>
                <a:t>miljö</a:t>
              </a:r>
              <a:r>
                <a:rPr dirty="0"/>
                <a:t>  </a:t>
              </a:r>
            </a:p>
          </p:txBody>
        </p:sp>
      </p:grpSp>
      <p:pic>
        <p:nvPicPr>
          <p:cNvPr id="314" name="Google Shape;202;p2" descr="Google Shape;202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271" y="4667884"/>
            <a:ext cx="4492615" cy="13797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Google Shape;203;p2" descr="Google Shape;203;p2"/>
          <p:cNvPicPr>
            <a:picLocks noChangeAspect="1"/>
          </p:cNvPicPr>
          <p:nvPr/>
        </p:nvPicPr>
        <p:blipFill>
          <a:blip r:embed="rId3"/>
          <a:srcRect b="23745"/>
          <a:stretch>
            <a:fillRect/>
          </a:stretch>
        </p:blipFill>
        <p:spPr>
          <a:xfrm>
            <a:off x="228490" y="4668601"/>
            <a:ext cx="4492617" cy="1378518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Google Shape;204;p2"/>
          <p:cNvSpPr/>
          <p:nvPr/>
        </p:nvSpPr>
        <p:spPr>
          <a:xfrm>
            <a:off x="4721147" y="5357891"/>
            <a:ext cx="2921103" cy="603"/>
          </a:xfrm>
          <a:prstGeom prst="line">
            <a:avLst/>
          </a:prstGeom>
          <a:ln>
            <a:solidFill>
              <a:schemeClr val="accent3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>
            <a:extLst>
              <a:ext uri="{FF2B5EF4-FFF2-40B4-BE49-F238E27FC236}">
                <a16:creationId xmlns:a16="http://schemas.microsoft.com/office/drawing/2014/main" id="{B66A49A5-7F0A-DDE1-47EB-62EB73247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11" y="680343"/>
            <a:ext cx="5378828" cy="4252139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2B811C00-F4A0-C26F-1DCC-D5D33427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73" y="1866018"/>
            <a:ext cx="859274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405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209;p3"/>
          <p:cNvSpPr txBox="1">
            <a:spLocks noGrp="1"/>
          </p:cNvSpPr>
          <p:nvPr>
            <p:ph type="sldNum" sz="quarter" idx="4294967295"/>
          </p:nvPr>
        </p:nvSpPr>
        <p:spPr>
          <a:xfrm>
            <a:off x="11478069" y="6105487"/>
            <a:ext cx="160605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319" name="Google Shape;210;p3"/>
          <p:cNvSpPr txBox="1">
            <a:spLocks noGrp="1"/>
          </p:cNvSpPr>
          <p:nvPr>
            <p:ph type="title"/>
          </p:nvPr>
        </p:nvSpPr>
        <p:spPr>
          <a:xfrm>
            <a:off x="623887" y="890488"/>
            <a:ext cx="4458656" cy="984176"/>
          </a:xfrm>
          <a:prstGeom prst="rect">
            <a:avLst/>
          </a:prstGeom>
        </p:spPr>
        <p:txBody>
          <a:bodyPr/>
          <a:lstStyle/>
          <a:p>
            <a:pPr defTabSz="832102">
              <a:defRPr sz="3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Original SSI-protokoll </a:t>
            </a:r>
            <a:br/>
            <a:endParaRPr/>
          </a:p>
        </p:txBody>
      </p:sp>
      <p:pic>
        <p:nvPicPr>
          <p:cNvPr id="320" name="Google Shape;211;p3" descr="Google Shape;211;p3"/>
          <p:cNvPicPr>
            <a:picLocks noChangeAspect="1"/>
          </p:cNvPicPr>
          <p:nvPr/>
        </p:nvPicPr>
        <p:blipFill>
          <a:blip r:embed="rId2"/>
          <a:srcRect r="22577"/>
          <a:stretch>
            <a:fillRect/>
          </a:stretch>
        </p:blipFill>
        <p:spPr>
          <a:xfrm>
            <a:off x="623885" y="2105829"/>
            <a:ext cx="4458656" cy="34408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Google Shape;213;p3" descr="Google Shape;213;p3"/>
          <p:cNvPicPr>
            <a:picLocks noChangeAspect="1"/>
          </p:cNvPicPr>
          <p:nvPr/>
        </p:nvPicPr>
        <p:blipFill>
          <a:blip r:embed="rId3"/>
          <a:srcRect r="6379" b="1"/>
          <a:stretch>
            <a:fillRect/>
          </a:stretch>
        </p:blipFill>
        <p:spPr>
          <a:xfrm>
            <a:off x="5483351" y="2105830"/>
            <a:ext cx="6295075" cy="4656338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Google Shape;214;p3"/>
          <p:cNvSpPr txBox="1"/>
          <p:nvPr/>
        </p:nvSpPr>
        <p:spPr>
          <a:xfrm>
            <a:off x="6309358" y="405189"/>
            <a:ext cx="5258754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Modifi</a:t>
            </a:r>
            <a:r>
              <a:rPr>
                <a:solidFill>
                  <a:schemeClr val="accent1"/>
                </a:solidFill>
              </a:rPr>
              <a:t>erat SSI-protokoll med extra signal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2" y="13899"/>
            <a:ext cx="5715002" cy="4286252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Google Shape;219;p4"/>
          <p:cNvSpPr txBox="1"/>
          <p:nvPr/>
        </p:nvSpPr>
        <p:spPr>
          <a:xfrm>
            <a:off x="4769205" y="362726"/>
            <a:ext cx="7266883" cy="76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Arbetsflöde</a:t>
            </a:r>
          </a:p>
        </p:txBody>
      </p:sp>
      <p:grpSp>
        <p:nvGrpSpPr>
          <p:cNvPr id="341" name="Google Shape;220;p4"/>
          <p:cNvGrpSpPr/>
          <p:nvPr/>
        </p:nvGrpSpPr>
        <p:grpSpPr>
          <a:xfrm>
            <a:off x="3888372" y="2588238"/>
            <a:ext cx="8127722" cy="3920886"/>
            <a:chOff x="0" y="-7"/>
            <a:chExt cx="8127719" cy="3920884"/>
          </a:xfrm>
        </p:grpSpPr>
        <p:sp>
          <p:nvSpPr>
            <p:cNvPr id="326" name="Google Shape;221;p4"/>
            <p:cNvSpPr/>
            <p:nvPr/>
          </p:nvSpPr>
          <p:spPr>
            <a:xfrm>
              <a:off x="-1" y="1062326"/>
              <a:ext cx="2266629" cy="1869496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27" name="Google Shape;222;p4"/>
            <p:cNvSpPr txBox="1"/>
            <p:nvPr/>
          </p:nvSpPr>
          <p:spPr>
            <a:xfrm>
              <a:off x="43021" y="1105348"/>
              <a:ext cx="2180584" cy="13664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3322" tIns="53322" rIns="53322" bIns="53322" numCol="1" anchor="t">
              <a:spAutoFit/>
            </a:bodyPr>
            <a:lstStyle/>
            <a:p>
              <a:pPr marL="285750" lvl="1" indent="-285750">
                <a:lnSpc>
                  <a:spcPct val="90000"/>
                </a:lnSpc>
                <a:buClr>
                  <a:srgbClr val="000000"/>
                </a:buClr>
                <a:buSzPts val="2800"/>
                <a:buFont typeface="Helvetica"/>
                <a:buChar char="•"/>
                <a:defRPr sz="28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VHDL- design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800"/>
                <a:buFont typeface="Helvetica"/>
                <a:buChar char="•"/>
                <a:defRPr sz="28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Verifikation </a:t>
              </a:r>
            </a:p>
          </p:txBody>
        </p:sp>
        <p:sp>
          <p:nvSpPr>
            <p:cNvPr id="328" name="Google Shape;223;p4"/>
            <p:cNvSpPr/>
            <p:nvPr/>
          </p:nvSpPr>
          <p:spPr>
            <a:xfrm>
              <a:off x="1489309" y="3315127"/>
              <a:ext cx="1961039" cy="605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42" extrusionOk="0">
                  <a:moveTo>
                    <a:pt x="0" y="1031"/>
                  </a:moveTo>
                  <a:lnTo>
                    <a:pt x="576" y="0"/>
                  </a:lnTo>
                  <a:cubicBezTo>
                    <a:pt x="2588" y="11179"/>
                    <a:pt x="6279" y="18320"/>
                    <a:pt x="10351" y="18915"/>
                  </a:cubicBezTo>
                  <a:cubicBezTo>
                    <a:pt x="14424" y="19509"/>
                    <a:pt x="18308" y="13474"/>
                    <a:pt x="20640" y="2929"/>
                  </a:cubicBezTo>
                  <a:lnTo>
                    <a:pt x="20257" y="2244"/>
                  </a:lnTo>
                  <a:lnTo>
                    <a:pt x="21513" y="515"/>
                  </a:lnTo>
                  <a:lnTo>
                    <a:pt x="21600" y="4649"/>
                  </a:lnTo>
                  <a:lnTo>
                    <a:pt x="21218" y="3964"/>
                  </a:lnTo>
                  <a:cubicBezTo>
                    <a:pt x="18767" y="15163"/>
                    <a:pt x="14662" y="21600"/>
                    <a:pt x="10351" y="21004"/>
                  </a:cubicBezTo>
                  <a:cubicBezTo>
                    <a:pt x="6041" y="20408"/>
                    <a:pt x="2131" y="12863"/>
                    <a:pt x="0" y="1031"/>
                  </a:cubicBezTo>
                  <a:close/>
                </a:path>
              </a:pathLst>
            </a:custGeom>
            <a:solidFill>
              <a:srgbClr val="A8AAA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29" name="Google Shape;224;p4"/>
            <p:cNvSpPr/>
            <p:nvPr/>
          </p:nvSpPr>
          <p:spPr>
            <a:xfrm>
              <a:off x="503694" y="2531214"/>
              <a:ext cx="2014782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0" name="Google Shape;225;p4"/>
            <p:cNvSpPr txBox="1"/>
            <p:nvPr/>
          </p:nvSpPr>
          <p:spPr>
            <a:xfrm>
              <a:off x="552561" y="2576220"/>
              <a:ext cx="1917047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3" action="ppaction://hlinksldjump"/>
                </a:defRPr>
              </a:lvl1pPr>
            </a:lstStyle>
            <a:p>
              <a:r>
                <a:rPr>
                  <a:hlinkClick r:id="rId3" action="ppaction://hlinksldjump"/>
                </a:rPr>
                <a:t>slave</a:t>
              </a:r>
            </a:p>
          </p:txBody>
        </p:sp>
        <p:sp>
          <p:nvSpPr>
            <p:cNvPr id="331" name="Google Shape;226;p4"/>
            <p:cNvSpPr/>
            <p:nvPr/>
          </p:nvSpPr>
          <p:spPr>
            <a:xfrm>
              <a:off x="2804621" y="1062326"/>
              <a:ext cx="2266630" cy="1869496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90196"/>
              </a:srgbClr>
            </a:solidFill>
            <a:ln w="12700" cap="flat">
              <a:solidFill>
                <a:schemeClr val="accent1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2" name="Google Shape;227;p4"/>
            <p:cNvSpPr txBox="1"/>
            <p:nvPr/>
          </p:nvSpPr>
          <p:spPr>
            <a:xfrm>
              <a:off x="2847643" y="1505954"/>
              <a:ext cx="2180585" cy="13868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3322" tIns="53322" rIns="53322" bIns="53322" numCol="1" anchor="t">
              <a:spAutoFit/>
            </a:bodyPr>
            <a:lstStyle/>
            <a:p>
              <a:pPr marL="285750" lvl="1" indent="-285750">
                <a:lnSpc>
                  <a:spcPct val="90000"/>
                </a:lnSpc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VHDL-design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Verifikation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Validering 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ts val="2000"/>
                <a:buFont typeface="Helvetica"/>
                <a:buChar char="•"/>
                <a:defRPr sz="2000"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Testning</a:t>
              </a:r>
            </a:p>
          </p:txBody>
        </p:sp>
        <p:sp>
          <p:nvSpPr>
            <p:cNvPr id="333" name="Google Shape;228;p4"/>
            <p:cNvSpPr/>
            <p:nvPr/>
          </p:nvSpPr>
          <p:spPr>
            <a:xfrm>
              <a:off x="4293934" y="-8"/>
              <a:ext cx="2213303" cy="679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94" extrusionOk="0">
                  <a:moveTo>
                    <a:pt x="0" y="20172"/>
                  </a:moveTo>
                  <a:cubicBezTo>
                    <a:pt x="2139" y="8184"/>
                    <a:pt x="6073" y="566"/>
                    <a:pt x="10400" y="30"/>
                  </a:cubicBezTo>
                  <a:cubicBezTo>
                    <a:pt x="14728" y="-506"/>
                    <a:pt x="18836" y="6116"/>
                    <a:pt x="21261" y="17539"/>
                  </a:cubicBezTo>
                  <a:lnTo>
                    <a:pt x="21600" y="16926"/>
                  </a:lnTo>
                  <a:lnTo>
                    <a:pt x="21519" y="20633"/>
                  </a:lnTo>
                  <a:lnTo>
                    <a:pt x="20410" y="19077"/>
                  </a:lnTo>
                  <a:lnTo>
                    <a:pt x="20749" y="18464"/>
                  </a:lnTo>
                  <a:cubicBezTo>
                    <a:pt x="18429" y="7626"/>
                    <a:pt x="14517" y="1363"/>
                    <a:pt x="10400" y="1898"/>
                  </a:cubicBezTo>
                  <a:cubicBezTo>
                    <a:pt x="6284" y="2433"/>
                    <a:pt x="2545" y="9690"/>
                    <a:pt x="510" y="21094"/>
                  </a:cubicBezTo>
                  <a:close/>
                </a:path>
              </a:pathLst>
            </a:custGeom>
            <a:solidFill>
              <a:srgbClr val="A8AAA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4" name="Google Shape;229;p4"/>
            <p:cNvSpPr/>
            <p:nvPr/>
          </p:nvSpPr>
          <p:spPr>
            <a:xfrm>
              <a:off x="3308316" y="661721"/>
              <a:ext cx="2014783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35" name="Google Shape;230;p4"/>
            <p:cNvSpPr txBox="1"/>
            <p:nvPr/>
          </p:nvSpPr>
          <p:spPr>
            <a:xfrm>
              <a:off x="3357183" y="706727"/>
              <a:ext cx="1917048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4" action="ppaction://hlinksldjump"/>
                </a:defRPr>
              </a:lvl1pPr>
            </a:lstStyle>
            <a:p>
              <a:r>
                <a:rPr>
                  <a:hlinkClick r:id="rId4" action="ppaction://hlinksldjump"/>
                </a:rPr>
                <a:t>master</a:t>
              </a:r>
            </a:p>
          </p:txBody>
        </p:sp>
        <p:grpSp>
          <p:nvGrpSpPr>
            <p:cNvPr id="338" name="Google Shape;231;p4"/>
            <p:cNvGrpSpPr/>
            <p:nvPr/>
          </p:nvGrpSpPr>
          <p:grpSpPr>
            <a:xfrm>
              <a:off x="5609243" y="1062326"/>
              <a:ext cx="2266631" cy="1869498"/>
              <a:chOff x="0" y="0"/>
              <a:chExt cx="2266630" cy="1869497"/>
            </a:xfrm>
          </p:grpSpPr>
          <p:sp>
            <p:nvSpPr>
              <p:cNvPr id="336" name="Rundad rektangel"/>
              <p:cNvSpPr/>
              <p:nvPr/>
            </p:nvSpPr>
            <p:spPr>
              <a:xfrm>
                <a:off x="0" y="0"/>
                <a:ext cx="2266631" cy="1869498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196"/>
                </a:srgbClr>
              </a:solidFill>
              <a:ln w="12700" cap="flat">
                <a:solidFill>
                  <a:schemeClr val="accent1"/>
                </a:solidFill>
                <a:prstDash val="solid"/>
                <a:miter lim="8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 sz="2000"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337" name="VHDL-design…"/>
              <p:cNvSpPr txBox="1"/>
              <p:nvPr/>
            </p:nvSpPr>
            <p:spPr>
              <a:xfrm>
                <a:off x="61104" y="365803"/>
                <a:ext cx="2144422" cy="1137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91422" tIns="91422" rIns="91422" bIns="91422" numCol="1" anchor="ctr">
                <a:spAutoFit/>
              </a:bodyPr>
              <a:lstStyle/>
              <a:p>
                <a:pPr marL="285750" lvl="1" indent="-285750">
                  <a:lnSpc>
                    <a:spcPct val="90000"/>
                  </a:lnSpc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VHDL-design</a:t>
                </a:r>
              </a:p>
              <a:p>
                <a:pPr marL="285750" lvl="1" indent="-2857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Validering</a:t>
                </a:r>
              </a:p>
              <a:p>
                <a:pPr marL="285750" lvl="1" indent="-2857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ts val="2000"/>
                  <a:buFont typeface="Helvetica"/>
                  <a:buChar char="•"/>
                  <a:defRPr sz="2000">
                    <a:latin typeface="Roboto Light"/>
                    <a:ea typeface="Roboto Light"/>
                    <a:cs typeface="Roboto Light"/>
                    <a:sym typeface="Roboto Light"/>
                  </a:defRPr>
                </a:pPr>
                <a:r>
                  <a:t>Testning</a:t>
                </a:r>
              </a:p>
            </p:txBody>
          </p:sp>
        </p:grpSp>
        <p:sp>
          <p:nvSpPr>
            <p:cNvPr id="339" name="Google Shape;232;p4"/>
            <p:cNvSpPr/>
            <p:nvPr/>
          </p:nvSpPr>
          <p:spPr>
            <a:xfrm>
              <a:off x="6112938" y="2531214"/>
              <a:ext cx="2014782" cy="801214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0" name="Google Shape;233;p4"/>
            <p:cNvSpPr txBox="1"/>
            <p:nvPr/>
          </p:nvSpPr>
          <p:spPr>
            <a:xfrm>
              <a:off x="6087207" y="2576220"/>
              <a:ext cx="1991646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90000"/>
                </a:lnSpc>
                <a:defRPr sz="4000"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Roboto Light"/>
                  <a:ea typeface="Roboto Light"/>
                  <a:cs typeface="Roboto Light"/>
                  <a:sym typeface="Roboto Light"/>
                  <a:hlinkClick r:id="rId5" action="ppaction://hlinksldjump"/>
                </a:defRPr>
              </a:lvl1pPr>
            </a:lstStyle>
            <a:p>
              <a:r>
                <a:rPr>
                  <a:hlinkClick r:id="rId5" action="ppaction://hlinksldjump"/>
                </a:rPr>
                <a:t>encoder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247;p6"/>
          <p:cNvGrpSpPr/>
          <p:nvPr/>
        </p:nvGrpSpPr>
        <p:grpSpPr>
          <a:xfrm>
            <a:off x="2534919" y="1229396"/>
            <a:ext cx="8128001" cy="5088629"/>
            <a:chOff x="-1" y="0"/>
            <a:chExt cx="8128000" cy="5088628"/>
          </a:xfrm>
        </p:grpSpPr>
        <p:sp>
          <p:nvSpPr>
            <p:cNvPr id="343" name="Google Shape;248;p6"/>
            <p:cNvSpPr/>
            <p:nvPr/>
          </p:nvSpPr>
          <p:spPr>
            <a:xfrm>
              <a:off x="-1" y="8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4" name="Google Shape;249;p6"/>
            <p:cNvSpPr txBox="1"/>
            <p:nvPr/>
          </p:nvSpPr>
          <p:spPr>
            <a:xfrm>
              <a:off x="-1" y="26420"/>
              <a:ext cx="2540001" cy="1488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Extra signal (charge pulse) startar överföringen av positionsdata till master</a:t>
              </a:r>
            </a:p>
          </p:txBody>
        </p:sp>
        <p:sp>
          <p:nvSpPr>
            <p:cNvPr id="345" name="Google Shape;250;p6"/>
            <p:cNvSpPr/>
            <p:nvPr/>
          </p:nvSpPr>
          <p:spPr>
            <a:xfrm>
              <a:off x="2793999" y="0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6" name="Google Shape;251;p6"/>
            <p:cNvSpPr txBox="1"/>
            <p:nvPr/>
          </p:nvSpPr>
          <p:spPr>
            <a:xfrm>
              <a:off x="2793999" y="543574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Konstant klocksignal</a:t>
              </a:r>
            </a:p>
          </p:txBody>
        </p:sp>
        <p:sp>
          <p:nvSpPr>
            <p:cNvPr id="347" name="Google Shape;252;p6"/>
            <p:cNvSpPr/>
            <p:nvPr/>
          </p:nvSpPr>
          <p:spPr>
            <a:xfrm>
              <a:off x="5587998" y="8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48" name="Google Shape;253;p6"/>
            <p:cNvSpPr txBox="1"/>
            <p:nvPr/>
          </p:nvSpPr>
          <p:spPr>
            <a:xfrm>
              <a:off x="5587998" y="552200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LSB skickas först</a:t>
              </a:r>
            </a:p>
          </p:txBody>
        </p:sp>
        <p:sp>
          <p:nvSpPr>
            <p:cNvPr id="349" name="Google Shape;254;p6"/>
            <p:cNvSpPr/>
            <p:nvPr/>
          </p:nvSpPr>
          <p:spPr>
            <a:xfrm>
              <a:off x="-1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0" name="Google Shape;255;p6"/>
            <p:cNvSpPr txBox="1"/>
            <p:nvPr/>
          </p:nvSpPr>
          <p:spPr>
            <a:xfrm>
              <a:off x="-1" y="2067310"/>
              <a:ext cx="2540001" cy="9626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/>
                <a:t> Konstant </a:t>
              </a:r>
              <a:r>
                <a:rPr dirty="0" err="1"/>
                <a:t>storlek</a:t>
              </a:r>
              <a:r>
                <a:rPr dirty="0"/>
                <a:t> </a:t>
              </a:r>
              <a:r>
                <a:rPr dirty="0" err="1"/>
                <a:t>på</a:t>
              </a:r>
              <a:r>
                <a:rPr dirty="0"/>
                <a:t> </a:t>
              </a:r>
              <a:r>
                <a:rPr lang="en-US" dirty="0"/>
                <a:t>p</a:t>
              </a:r>
              <a:r>
                <a:rPr lang="en-SE" dirty="0" err="1"/>
                <a:t>ositionsvärde</a:t>
              </a:r>
              <a:r>
                <a:rPr dirty="0"/>
                <a:t> – 14 </a:t>
              </a:r>
              <a:r>
                <a:rPr dirty="0" err="1"/>
                <a:t>bitar</a:t>
              </a:r>
              <a:r>
                <a:rPr dirty="0"/>
                <a:t> </a:t>
              </a:r>
            </a:p>
          </p:txBody>
        </p:sp>
        <p:sp>
          <p:nvSpPr>
            <p:cNvPr id="351" name="Google Shape;256;p6"/>
            <p:cNvSpPr/>
            <p:nvPr/>
          </p:nvSpPr>
          <p:spPr>
            <a:xfrm>
              <a:off x="2793999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2" name="Google Shape;257;p6"/>
            <p:cNvSpPr txBox="1"/>
            <p:nvPr/>
          </p:nvSpPr>
          <p:spPr>
            <a:xfrm>
              <a:off x="2793999" y="2212396"/>
              <a:ext cx="2540001" cy="6724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Adder</a:t>
              </a:r>
              <a:r>
                <a:rPr lang="en-US" dirty="0" err="1"/>
                <a:t>a</a:t>
              </a:r>
              <a:r>
                <a:rPr dirty="0"/>
                <a:t> </a:t>
              </a:r>
              <a:r>
                <a:rPr dirty="0" err="1"/>
                <a:t>startbit</a:t>
              </a:r>
              <a:r>
                <a:rPr dirty="0"/>
                <a:t> (</a:t>
              </a:r>
              <a:r>
                <a:rPr dirty="0" err="1"/>
                <a:t>alltid</a:t>
              </a:r>
              <a:r>
                <a:rPr dirty="0"/>
                <a:t> 1) och </a:t>
              </a:r>
              <a:r>
                <a:rPr lang="en-US" dirty="0"/>
                <a:t>p</a:t>
              </a:r>
              <a:r>
                <a:rPr lang="en-SE" dirty="0" err="1"/>
                <a:t>aritetsbit</a:t>
              </a:r>
              <a:endParaRPr dirty="0"/>
            </a:p>
          </p:txBody>
        </p:sp>
        <p:sp>
          <p:nvSpPr>
            <p:cNvPr id="353" name="Google Shape;258;p6"/>
            <p:cNvSpPr/>
            <p:nvPr/>
          </p:nvSpPr>
          <p:spPr>
            <a:xfrm>
              <a:off x="5570752" y="1786625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4" name="Google Shape;259;p6"/>
            <p:cNvSpPr txBox="1"/>
            <p:nvPr/>
          </p:nvSpPr>
          <p:spPr>
            <a:xfrm>
              <a:off x="5570752" y="2330200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CCW eller CW</a:t>
              </a:r>
            </a:p>
          </p:txBody>
        </p:sp>
        <p:sp>
          <p:nvSpPr>
            <p:cNvPr id="355" name="Google Shape;260;p6"/>
            <p:cNvSpPr/>
            <p:nvPr/>
          </p:nvSpPr>
          <p:spPr>
            <a:xfrm>
              <a:off x="-1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6" name="Google Shape;261;p6"/>
            <p:cNvSpPr txBox="1"/>
            <p:nvPr/>
          </p:nvSpPr>
          <p:spPr>
            <a:xfrm>
              <a:off x="-1" y="3976756"/>
              <a:ext cx="2540001" cy="69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Verifiering med ModelSim   </a:t>
              </a:r>
            </a:p>
          </p:txBody>
        </p:sp>
        <p:sp>
          <p:nvSpPr>
            <p:cNvPr id="357" name="Google Shape;262;p6"/>
            <p:cNvSpPr/>
            <p:nvPr/>
          </p:nvSpPr>
          <p:spPr>
            <a:xfrm>
              <a:off x="2793999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58" name="Google Shape;263;p6"/>
            <p:cNvSpPr txBox="1"/>
            <p:nvPr/>
          </p:nvSpPr>
          <p:spPr>
            <a:xfrm>
              <a:off x="2793999" y="3976756"/>
              <a:ext cx="2540001" cy="699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Validering på hårdvaran</a:t>
              </a:r>
            </a:p>
          </p:txBody>
        </p:sp>
        <p:sp>
          <p:nvSpPr>
            <p:cNvPr id="359" name="Google Shape;264;p6"/>
            <p:cNvSpPr/>
            <p:nvPr/>
          </p:nvSpPr>
          <p:spPr>
            <a:xfrm>
              <a:off x="5587998" y="3564626"/>
              <a:ext cx="2540001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60" name="Google Shape;265;p6"/>
            <p:cNvSpPr txBox="1"/>
            <p:nvPr/>
          </p:nvSpPr>
          <p:spPr>
            <a:xfrm>
              <a:off x="5587998" y="4108201"/>
              <a:ext cx="2540001" cy="4368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372" tIns="72372" rIns="72372" bIns="72372" numCol="1" anchor="ctr">
              <a:spAutoFit/>
            </a:bodyPr>
            <a:lstStyle>
              <a:lvl1pPr algn="ctr">
                <a:lnSpc>
                  <a:spcPct val="90000"/>
                </a:lnSpc>
                <a:defRPr sz="19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Data skickas binärt</a:t>
              </a:r>
            </a:p>
          </p:txBody>
        </p:sp>
      </p:grpSp>
      <p:sp>
        <p:nvSpPr>
          <p:cNvPr id="362" name="Google Shape;266;p6"/>
          <p:cNvSpPr txBox="1"/>
          <p:nvPr/>
        </p:nvSpPr>
        <p:spPr>
          <a:xfrm>
            <a:off x="2658491" y="381993"/>
            <a:ext cx="3065822" cy="57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2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Slave</a:t>
            </a:r>
          </a:p>
        </p:txBody>
      </p:sp>
      <p:pic>
        <p:nvPicPr>
          <p:cNvPr id="363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10" y="196623"/>
            <a:ext cx="914401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278;p8"/>
          <p:cNvSpPr txBox="1"/>
          <p:nvPr/>
        </p:nvSpPr>
        <p:spPr>
          <a:xfrm>
            <a:off x="3342697" y="594676"/>
            <a:ext cx="4091252" cy="82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 err="1"/>
              <a:t>Parit</a:t>
            </a:r>
            <a:r>
              <a:rPr lang="en-US" dirty="0" err="1"/>
              <a:t>ets</a:t>
            </a:r>
            <a:r>
              <a:rPr dirty="0" err="1"/>
              <a:t>bit</a:t>
            </a:r>
            <a:endParaRPr dirty="0"/>
          </a:p>
        </p:txBody>
      </p:sp>
      <p:grpSp>
        <p:nvGrpSpPr>
          <p:cNvPr id="368" name="Google Shape;280;p8"/>
          <p:cNvGrpSpPr/>
          <p:nvPr/>
        </p:nvGrpSpPr>
        <p:grpSpPr>
          <a:xfrm>
            <a:off x="1132043" y="4108880"/>
            <a:ext cx="585458" cy="624694"/>
            <a:chOff x="0" y="0"/>
            <a:chExt cx="585456" cy="624693"/>
          </a:xfrm>
        </p:grpSpPr>
        <p:sp>
          <p:nvSpPr>
            <p:cNvPr id="36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67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71" name="Google Shape;281;p8"/>
          <p:cNvGrpSpPr/>
          <p:nvPr/>
        </p:nvGrpSpPr>
        <p:grpSpPr>
          <a:xfrm>
            <a:off x="1717493" y="4108880"/>
            <a:ext cx="585458" cy="624694"/>
            <a:chOff x="0" y="0"/>
            <a:chExt cx="585456" cy="624693"/>
          </a:xfrm>
        </p:grpSpPr>
        <p:sp>
          <p:nvSpPr>
            <p:cNvPr id="36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0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74" name="Google Shape;282;p8"/>
          <p:cNvGrpSpPr/>
          <p:nvPr/>
        </p:nvGrpSpPr>
        <p:grpSpPr>
          <a:xfrm>
            <a:off x="2277308" y="4108880"/>
            <a:ext cx="534159" cy="624694"/>
            <a:chOff x="0" y="0"/>
            <a:chExt cx="534157" cy="624693"/>
          </a:xfrm>
        </p:grpSpPr>
        <p:sp>
          <p:nvSpPr>
            <p:cNvPr id="372" name="Rektangel"/>
            <p:cNvSpPr/>
            <p:nvPr/>
          </p:nvSpPr>
          <p:spPr>
            <a:xfrm>
              <a:off x="-1" y="-1"/>
              <a:ext cx="534159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3" name="1"/>
            <p:cNvSpPr txBox="1"/>
            <p:nvPr/>
          </p:nvSpPr>
          <p:spPr>
            <a:xfrm>
              <a:off x="55249" y="126944"/>
              <a:ext cx="423659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77" name="Google Shape;283;p8"/>
          <p:cNvGrpSpPr/>
          <p:nvPr/>
        </p:nvGrpSpPr>
        <p:grpSpPr>
          <a:xfrm>
            <a:off x="2811462" y="4108880"/>
            <a:ext cx="585458" cy="624694"/>
            <a:chOff x="0" y="0"/>
            <a:chExt cx="585456" cy="624693"/>
          </a:xfrm>
        </p:grpSpPr>
        <p:sp>
          <p:nvSpPr>
            <p:cNvPr id="375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6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80" name="Google Shape;284;p8"/>
          <p:cNvGrpSpPr/>
          <p:nvPr/>
        </p:nvGrpSpPr>
        <p:grpSpPr>
          <a:xfrm>
            <a:off x="3408233" y="4108880"/>
            <a:ext cx="585458" cy="624694"/>
            <a:chOff x="0" y="0"/>
            <a:chExt cx="585456" cy="624693"/>
          </a:xfrm>
        </p:grpSpPr>
        <p:sp>
          <p:nvSpPr>
            <p:cNvPr id="37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7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83" name="Google Shape;285;p8"/>
          <p:cNvGrpSpPr/>
          <p:nvPr/>
        </p:nvGrpSpPr>
        <p:grpSpPr>
          <a:xfrm>
            <a:off x="3998609" y="4108880"/>
            <a:ext cx="585458" cy="624694"/>
            <a:chOff x="0" y="0"/>
            <a:chExt cx="585456" cy="624693"/>
          </a:xfrm>
        </p:grpSpPr>
        <p:sp>
          <p:nvSpPr>
            <p:cNvPr id="38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2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86" name="Google Shape;286;p8"/>
          <p:cNvGrpSpPr/>
          <p:nvPr/>
        </p:nvGrpSpPr>
        <p:grpSpPr>
          <a:xfrm>
            <a:off x="4588985" y="4108880"/>
            <a:ext cx="585458" cy="624694"/>
            <a:chOff x="0" y="0"/>
            <a:chExt cx="585456" cy="624693"/>
          </a:xfrm>
        </p:grpSpPr>
        <p:sp>
          <p:nvSpPr>
            <p:cNvPr id="38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5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89" name="Google Shape;287;p8"/>
          <p:cNvGrpSpPr/>
          <p:nvPr/>
        </p:nvGrpSpPr>
        <p:grpSpPr>
          <a:xfrm>
            <a:off x="5174438" y="4108880"/>
            <a:ext cx="585458" cy="624694"/>
            <a:chOff x="0" y="0"/>
            <a:chExt cx="585456" cy="624693"/>
          </a:xfrm>
        </p:grpSpPr>
        <p:sp>
          <p:nvSpPr>
            <p:cNvPr id="38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88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392" name="Google Shape;288;p8"/>
          <p:cNvGrpSpPr/>
          <p:nvPr/>
        </p:nvGrpSpPr>
        <p:grpSpPr>
          <a:xfrm>
            <a:off x="5759888" y="4108880"/>
            <a:ext cx="585458" cy="624694"/>
            <a:chOff x="0" y="0"/>
            <a:chExt cx="585456" cy="624693"/>
          </a:xfrm>
        </p:grpSpPr>
        <p:sp>
          <p:nvSpPr>
            <p:cNvPr id="39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95" name="Google Shape;289;p8"/>
          <p:cNvGrpSpPr/>
          <p:nvPr/>
        </p:nvGrpSpPr>
        <p:grpSpPr>
          <a:xfrm>
            <a:off x="6345341" y="4108880"/>
            <a:ext cx="585458" cy="624694"/>
            <a:chOff x="0" y="0"/>
            <a:chExt cx="585456" cy="624693"/>
          </a:xfrm>
        </p:grpSpPr>
        <p:sp>
          <p:nvSpPr>
            <p:cNvPr id="393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4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398" name="Google Shape;290;p8"/>
          <p:cNvGrpSpPr/>
          <p:nvPr/>
        </p:nvGrpSpPr>
        <p:grpSpPr>
          <a:xfrm>
            <a:off x="9835644" y="4108880"/>
            <a:ext cx="585458" cy="624694"/>
            <a:chOff x="0" y="0"/>
            <a:chExt cx="585456" cy="624693"/>
          </a:xfrm>
        </p:grpSpPr>
        <p:sp>
          <p:nvSpPr>
            <p:cNvPr id="39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397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1" name="Google Shape;291;p8"/>
          <p:cNvGrpSpPr/>
          <p:nvPr/>
        </p:nvGrpSpPr>
        <p:grpSpPr>
          <a:xfrm>
            <a:off x="9272602" y="4108880"/>
            <a:ext cx="585458" cy="624694"/>
            <a:chOff x="0" y="0"/>
            <a:chExt cx="585456" cy="624693"/>
          </a:xfrm>
        </p:grpSpPr>
        <p:sp>
          <p:nvSpPr>
            <p:cNvPr id="39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0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4" name="Google Shape;292;p8"/>
          <p:cNvGrpSpPr/>
          <p:nvPr/>
        </p:nvGrpSpPr>
        <p:grpSpPr>
          <a:xfrm>
            <a:off x="8687149" y="4108880"/>
            <a:ext cx="585458" cy="624694"/>
            <a:chOff x="0" y="0"/>
            <a:chExt cx="585456" cy="624693"/>
          </a:xfrm>
        </p:grpSpPr>
        <p:sp>
          <p:nvSpPr>
            <p:cNvPr id="402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3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07" name="Google Shape;293;p8"/>
          <p:cNvGrpSpPr/>
          <p:nvPr/>
        </p:nvGrpSpPr>
        <p:grpSpPr>
          <a:xfrm>
            <a:off x="8101698" y="4108880"/>
            <a:ext cx="585458" cy="624694"/>
            <a:chOff x="0" y="0"/>
            <a:chExt cx="585456" cy="624693"/>
          </a:xfrm>
        </p:grpSpPr>
        <p:sp>
          <p:nvSpPr>
            <p:cNvPr id="405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6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10" name="Google Shape;294;p8"/>
          <p:cNvGrpSpPr/>
          <p:nvPr/>
        </p:nvGrpSpPr>
        <p:grpSpPr>
          <a:xfrm>
            <a:off x="7517775" y="4108880"/>
            <a:ext cx="585458" cy="624694"/>
            <a:chOff x="0" y="0"/>
            <a:chExt cx="585456" cy="624693"/>
          </a:xfrm>
        </p:grpSpPr>
        <p:sp>
          <p:nvSpPr>
            <p:cNvPr id="40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09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13" name="Google Shape;295;p8"/>
          <p:cNvGrpSpPr/>
          <p:nvPr/>
        </p:nvGrpSpPr>
        <p:grpSpPr>
          <a:xfrm>
            <a:off x="6930795" y="4108880"/>
            <a:ext cx="585458" cy="624694"/>
            <a:chOff x="0" y="0"/>
            <a:chExt cx="585456" cy="624693"/>
          </a:xfrm>
        </p:grpSpPr>
        <p:sp>
          <p:nvSpPr>
            <p:cNvPr id="41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16" name="Google Shape;296;p8"/>
          <p:cNvGrpSpPr/>
          <p:nvPr/>
        </p:nvGrpSpPr>
        <p:grpSpPr>
          <a:xfrm>
            <a:off x="9565329" y="5211001"/>
            <a:ext cx="1244947" cy="370799"/>
            <a:chOff x="0" y="-1"/>
            <a:chExt cx="1244945" cy="370798"/>
          </a:xfrm>
        </p:grpSpPr>
        <p:sp>
          <p:nvSpPr>
            <p:cNvPr id="414" name="Form"/>
            <p:cNvSpPr/>
            <p:nvPr/>
          </p:nvSpPr>
          <p:spPr>
            <a:xfrm>
              <a:off x="-1" y="20509"/>
              <a:ext cx="1244946" cy="32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427" y="0"/>
                    <a:pt x="954" y="0"/>
                  </a:cubicBezTo>
                  <a:lnTo>
                    <a:pt x="20646" y="0"/>
                  </a:lnTo>
                  <a:cubicBezTo>
                    <a:pt x="2117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73" y="21600"/>
                    <a:pt x="20646" y="21600"/>
                  </a:cubicBezTo>
                  <a:lnTo>
                    <a:pt x="954" y="21600"/>
                  </a:lnTo>
                  <a:cubicBezTo>
                    <a:pt x="427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5" name="Start bit"/>
            <p:cNvSpPr txBox="1"/>
            <p:nvPr/>
          </p:nvSpPr>
          <p:spPr>
            <a:xfrm>
              <a:off x="82732" y="-2"/>
              <a:ext cx="1079479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dirty="0" err="1"/>
                <a:t>Startbit</a:t>
              </a:r>
              <a:endParaRPr dirty="0"/>
            </a:p>
          </p:txBody>
        </p:sp>
      </p:grpSp>
      <p:grpSp>
        <p:nvGrpSpPr>
          <p:cNvPr id="419" name="Google Shape;297;p8"/>
          <p:cNvGrpSpPr/>
          <p:nvPr/>
        </p:nvGrpSpPr>
        <p:grpSpPr>
          <a:xfrm>
            <a:off x="812618" y="4977045"/>
            <a:ext cx="1349571" cy="615511"/>
            <a:chOff x="-83359" y="-233957"/>
            <a:chExt cx="1349570" cy="615509"/>
          </a:xfrm>
        </p:grpSpPr>
        <p:sp>
          <p:nvSpPr>
            <p:cNvPr id="417" name="Form"/>
            <p:cNvSpPr/>
            <p:nvPr/>
          </p:nvSpPr>
          <p:spPr>
            <a:xfrm>
              <a:off x="-1" y="20508"/>
              <a:ext cx="1244945" cy="329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427" y="0"/>
                    <a:pt x="954" y="0"/>
                  </a:cubicBezTo>
                  <a:lnTo>
                    <a:pt x="20646" y="0"/>
                  </a:lnTo>
                  <a:cubicBezTo>
                    <a:pt x="2117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73" y="21600"/>
                    <a:pt x="20646" y="21600"/>
                  </a:cubicBezTo>
                  <a:lnTo>
                    <a:pt x="954" y="21600"/>
                  </a:lnTo>
                  <a:cubicBezTo>
                    <a:pt x="427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18" name="Parity bit"/>
            <p:cNvSpPr txBox="1"/>
            <p:nvPr/>
          </p:nvSpPr>
          <p:spPr>
            <a:xfrm>
              <a:off x="-83359" y="-233957"/>
              <a:ext cx="1349570" cy="615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endParaRPr lang="en-US" dirty="0"/>
            </a:p>
            <a:p>
              <a:r>
                <a:rPr sz="1600" dirty="0" err="1"/>
                <a:t>Parit</a:t>
              </a:r>
              <a:r>
                <a:rPr lang="en-US" sz="1600" dirty="0" err="1"/>
                <a:t>ets</a:t>
              </a:r>
              <a:r>
                <a:rPr sz="1600" dirty="0" err="1"/>
                <a:t>bit</a:t>
              </a:r>
              <a:endParaRPr sz="1600" dirty="0"/>
            </a:p>
          </p:txBody>
        </p:sp>
      </p:grpSp>
      <p:sp>
        <p:nvSpPr>
          <p:cNvPr id="420" name="Google Shape;298;p8"/>
          <p:cNvSpPr/>
          <p:nvPr/>
        </p:nvSpPr>
        <p:spPr>
          <a:xfrm flipV="1">
            <a:off x="10153581" y="4733571"/>
            <a:ext cx="3" cy="497943"/>
          </a:xfrm>
          <a:prstGeom prst="line">
            <a:avLst/>
          </a:prstGeom>
          <a:ln>
            <a:solidFill>
              <a:schemeClr val="accent5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423" name="Google Shape;299;p8"/>
          <p:cNvGrpSpPr/>
          <p:nvPr/>
        </p:nvGrpSpPr>
        <p:grpSpPr>
          <a:xfrm>
            <a:off x="614943" y="3255681"/>
            <a:ext cx="999595" cy="556796"/>
            <a:chOff x="-1" y="0"/>
            <a:chExt cx="999593" cy="556794"/>
          </a:xfrm>
        </p:grpSpPr>
        <p:sp>
          <p:nvSpPr>
            <p:cNvPr id="421" name="Form"/>
            <p:cNvSpPr/>
            <p:nvPr/>
          </p:nvSpPr>
          <p:spPr>
            <a:xfrm>
              <a:off x="-2" y="-1"/>
              <a:ext cx="999595" cy="556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898" y="0"/>
                    <a:pt x="2005" y="0"/>
                  </a:cubicBezTo>
                  <a:lnTo>
                    <a:pt x="19595" y="0"/>
                  </a:lnTo>
                  <a:cubicBezTo>
                    <a:pt x="20702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02" y="21600"/>
                    <a:pt x="19595" y="21600"/>
                  </a:cubicBezTo>
                  <a:lnTo>
                    <a:pt x="2005" y="21600"/>
                  </a:lnTo>
                  <a:cubicBezTo>
                    <a:pt x="898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22" name="MSB"/>
            <p:cNvSpPr txBox="1"/>
            <p:nvPr/>
          </p:nvSpPr>
          <p:spPr>
            <a:xfrm>
              <a:off x="101649" y="92995"/>
              <a:ext cx="796293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MSB</a:t>
              </a:r>
            </a:p>
          </p:txBody>
        </p:sp>
      </p:grpSp>
      <p:grpSp>
        <p:nvGrpSpPr>
          <p:cNvPr id="426" name="Google Shape;300;p8"/>
          <p:cNvGrpSpPr/>
          <p:nvPr/>
        </p:nvGrpSpPr>
        <p:grpSpPr>
          <a:xfrm>
            <a:off x="10063979" y="3367396"/>
            <a:ext cx="923032" cy="487086"/>
            <a:chOff x="-1" y="0"/>
            <a:chExt cx="923030" cy="487084"/>
          </a:xfrm>
        </p:grpSpPr>
        <p:sp>
          <p:nvSpPr>
            <p:cNvPr id="424" name="Form"/>
            <p:cNvSpPr/>
            <p:nvPr/>
          </p:nvSpPr>
          <p:spPr>
            <a:xfrm>
              <a:off x="-2" y="-2"/>
              <a:ext cx="923032" cy="487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851" y="0"/>
                    <a:pt x="1900" y="0"/>
                  </a:cubicBezTo>
                  <a:lnTo>
                    <a:pt x="19700" y="0"/>
                  </a:lnTo>
                  <a:cubicBezTo>
                    <a:pt x="2074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0749" y="21600"/>
                    <a:pt x="19700" y="21600"/>
                  </a:cubicBezTo>
                  <a:lnTo>
                    <a:pt x="1900" y="21600"/>
                  </a:lnTo>
                  <a:cubicBezTo>
                    <a:pt x="85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25" name="LSB"/>
            <p:cNvSpPr txBox="1"/>
            <p:nvPr/>
          </p:nvSpPr>
          <p:spPr>
            <a:xfrm>
              <a:off x="95839" y="58140"/>
              <a:ext cx="731350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LSB</a:t>
              </a:r>
            </a:p>
          </p:txBody>
        </p:sp>
      </p:grpSp>
      <p:sp>
        <p:nvSpPr>
          <p:cNvPr id="427" name="Google Shape;301;p8"/>
          <p:cNvSpPr/>
          <p:nvPr/>
        </p:nvSpPr>
        <p:spPr>
          <a:xfrm flipV="1">
            <a:off x="1424772" y="4743086"/>
            <a:ext cx="3" cy="467919"/>
          </a:xfrm>
          <a:prstGeom prst="line">
            <a:avLst/>
          </a:prstGeom>
          <a:ln>
            <a:solidFill>
              <a:schemeClr val="accent5"/>
            </a:solidFill>
            <a:miter lim="8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28" name="Google Shape;302;p8"/>
          <p:cNvSpPr/>
          <p:nvPr/>
        </p:nvSpPr>
        <p:spPr>
          <a:xfrm rot="5400000">
            <a:off x="5457745" y="-311250"/>
            <a:ext cx="660067" cy="8140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15635" y="21600"/>
                  <a:pt x="10800" y="21535"/>
                  <a:pt x="10800" y="21454"/>
                </a:cubicBezTo>
                <a:lnTo>
                  <a:pt x="10800" y="10981"/>
                </a:lnTo>
                <a:cubicBezTo>
                  <a:pt x="10800" y="10901"/>
                  <a:pt x="5965" y="10835"/>
                  <a:pt x="0" y="10835"/>
                </a:cubicBezTo>
                <a:cubicBezTo>
                  <a:pt x="5965" y="10835"/>
                  <a:pt x="10800" y="10770"/>
                  <a:pt x="10800" y="10689"/>
                </a:cubicBezTo>
                <a:lnTo>
                  <a:pt x="10800" y="146"/>
                </a:lnTo>
                <a:cubicBezTo>
                  <a:pt x="10800" y="65"/>
                  <a:pt x="15635" y="0"/>
                  <a:pt x="21600" y="0"/>
                </a:cubicBezTo>
              </a:path>
            </a:pathLst>
          </a:custGeom>
          <a:ln w="19050">
            <a:solidFill>
              <a:schemeClr val="accent5"/>
            </a:solidFill>
            <a:miter lim="8000"/>
          </a:ln>
        </p:spPr>
        <p:txBody>
          <a:bodyPr lIns="45718" tIns="45718" rIns="45718" bIns="45718" anchor="ctr"/>
          <a:lstStyle/>
          <a:p>
            <a:pPr algn="ctr">
              <a:defRPr sz="1800">
                <a:latin typeface="Roboto Light"/>
                <a:ea typeface="Roboto Light"/>
                <a:cs typeface="Roboto Light"/>
                <a:sym typeface="Roboto Light"/>
              </a:defRPr>
            </a:pPr>
            <a:endParaRPr/>
          </a:p>
        </p:txBody>
      </p:sp>
      <p:grpSp>
        <p:nvGrpSpPr>
          <p:cNvPr id="431" name="Google Shape;303;p8"/>
          <p:cNvGrpSpPr/>
          <p:nvPr/>
        </p:nvGrpSpPr>
        <p:grpSpPr>
          <a:xfrm>
            <a:off x="4757243" y="3020200"/>
            <a:ext cx="2096012" cy="370799"/>
            <a:chOff x="0" y="0"/>
            <a:chExt cx="2096010" cy="370798"/>
          </a:xfrm>
        </p:grpSpPr>
        <p:sp>
          <p:nvSpPr>
            <p:cNvPr id="429" name="Form"/>
            <p:cNvSpPr/>
            <p:nvPr/>
          </p:nvSpPr>
          <p:spPr>
            <a:xfrm>
              <a:off x="-1" y="14119"/>
              <a:ext cx="2096011" cy="34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263" y="0"/>
                    <a:pt x="588" y="0"/>
                  </a:cubicBezTo>
                  <a:lnTo>
                    <a:pt x="21012" y="0"/>
                  </a:lnTo>
                  <a:cubicBezTo>
                    <a:pt x="21337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337" y="21600"/>
                    <a:pt x="21012" y="21600"/>
                  </a:cubicBezTo>
                  <a:lnTo>
                    <a:pt x="588" y="21600"/>
                  </a:lnTo>
                  <a:cubicBezTo>
                    <a:pt x="263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430" name="Position value"/>
            <p:cNvSpPr txBox="1"/>
            <p:nvPr/>
          </p:nvSpPr>
          <p:spPr>
            <a:xfrm>
              <a:off x="98905" y="-1"/>
              <a:ext cx="1898198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lang="en-SE" dirty="0" err="1"/>
                <a:t>Positionsvärde</a:t>
              </a:r>
              <a:endParaRPr dirty="0"/>
            </a:p>
          </p:txBody>
        </p:sp>
      </p:grpSp>
      <p:sp>
        <p:nvSpPr>
          <p:cNvPr id="432" name="TextBox 3"/>
          <p:cNvSpPr txBox="1"/>
          <p:nvPr/>
        </p:nvSpPr>
        <p:spPr>
          <a:xfrm>
            <a:off x="7223521" y="1540785"/>
            <a:ext cx="1601303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433" name="TextBox 4"/>
          <p:cNvSpPr txBox="1"/>
          <p:nvPr/>
        </p:nvSpPr>
        <p:spPr>
          <a:xfrm>
            <a:off x="9401598" y="748567"/>
            <a:ext cx="1583452" cy="39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Hårdkodad positionsdata</a:t>
            </a:r>
          </a:p>
        </p:txBody>
      </p:sp>
      <p:sp>
        <p:nvSpPr>
          <p:cNvPr id="434" name="Straight Arrow Connector 6"/>
          <p:cNvSpPr/>
          <p:nvPr/>
        </p:nvSpPr>
        <p:spPr>
          <a:xfrm flipH="1">
            <a:off x="8896873" y="1010176"/>
            <a:ext cx="868230" cy="530613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308;p9"/>
          <p:cNvGrpSpPr/>
          <p:nvPr/>
        </p:nvGrpSpPr>
        <p:grpSpPr>
          <a:xfrm>
            <a:off x="1308987" y="1577187"/>
            <a:ext cx="585456" cy="624694"/>
            <a:chOff x="0" y="0"/>
            <a:chExt cx="585455" cy="624693"/>
          </a:xfrm>
        </p:grpSpPr>
        <p:sp>
          <p:nvSpPr>
            <p:cNvPr id="436" name="Rektangel"/>
            <p:cNvSpPr/>
            <p:nvPr/>
          </p:nvSpPr>
          <p:spPr>
            <a:xfrm>
              <a:off x="-1" y="-1"/>
              <a:ext cx="585456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437" name="parity"/>
            <p:cNvSpPr txBox="1"/>
            <p:nvPr/>
          </p:nvSpPr>
          <p:spPr>
            <a:xfrm>
              <a:off x="55249" y="177744"/>
              <a:ext cx="474956" cy="269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2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parity</a:t>
              </a:r>
            </a:p>
          </p:txBody>
        </p:sp>
      </p:grpSp>
      <p:grpSp>
        <p:nvGrpSpPr>
          <p:cNvPr id="441" name="Google Shape;309;p9"/>
          <p:cNvGrpSpPr/>
          <p:nvPr/>
        </p:nvGrpSpPr>
        <p:grpSpPr>
          <a:xfrm>
            <a:off x="1894438" y="1577187"/>
            <a:ext cx="585458" cy="624694"/>
            <a:chOff x="0" y="0"/>
            <a:chExt cx="585456" cy="624693"/>
          </a:xfrm>
        </p:grpSpPr>
        <p:sp>
          <p:nvSpPr>
            <p:cNvPr id="439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0" name="Transmit_reg(0)"/>
            <p:cNvSpPr txBox="1"/>
            <p:nvPr/>
          </p:nvSpPr>
          <p:spPr>
            <a:xfrm>
              <a:off x="55249" y="139645"/>
              <a:ext cx="474957" cy="345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Transmit_reg(0)</a:t>
              </a:r>
            </a:p>
          </p:txBody>
        </p:sp>
      </p:grpSp>
      <p:grpSp>
        <p:nvGrpSpPr>
          <p:cNvPr id="444" name="Google Shape;310;p9"/>
          <p:cNvGrpSpPr/>
          <p:nvPr/>
        </p:nvGrpSpPr>
        <p:grpSpPr>
          <a:xfrm>
            <a:off x="2479891" y="1577187"/>
            <a:ext cx="585458" cy="624694"/>
            <a:chOff x="0" y="0"/>
            <a:chExt cx="585456" cy="624693"/>
          </a:xfrm>
        </p:grpSpPr>
        <p:sp>
          <p:nvSpPr>
            <p:cNvPr id="442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3" name="Q(parity)"/>
            <p:cNvSpPr txBox="1"/>
            <p:nvPr/>
          </p:nvSpPr>
          <p:spPr>
            <a:xfrm>
              <a:off x="55249" y="139645"/>
              <a:ext cx="474957" cy="345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Q(parity)</a:t>
              </a:r>
            </a:p>
          </p:txBody>
        </p:sp>
      </p:grpSp>
      <p:grpSp>
        <p:nvGrpSpPr>
          <p:cNvPr id="447" name="Google Shape;311;p9"/>
          <p:cNvGrpSpPr/>
          <p:nvPr/>
        </p:nvGrpSpPr>
        <p:grpSpPr>
          <a:xfrm>
            <a:off x="1308987" y="2201876"/>
            <a:ext cx="585456" cy="624695"/>
            <a:chOff x="0" y="0"/>
            <a:chExt cx="585455" cy="624693"/>
          </a:xfrm>
        </p:grpSpPr>
        <p:sp>
          <p:nvSpPr>
            <p:cNvPr id="445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6" name="0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50" name="Google Shape;312;p9"/>
          <p:cNvGrpSpPr/>
          <p:nvPr/>
        </p:nvGrpSpPr>
        <p:grpSpPr>
          <a:xfrm>
            <a:off x="1894438" y="2201876"/>
            <a:ext cx="585458" cy="624695"/>
            <a:chOff x="0" y="0"/>
            <a:chExt cx="585456" cy="624693"/>
          </a:xfrm>
        </p:grpSpPr>
        <p:sp>
          <p:nvSpPr>
            <p:cNvPr id="44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4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3" name="Google Shape;313;p9"/>
          <p:cNvGrpSpPr/>
          <p:nvPr/>
        </p:nvGrpSpPr>
        <p:grpSpPr>
          <a:xfrm>
            <a:off x="2479891" y="2201876"/>
            <a:ext cx="585458" cy="624695"/>
            <a:chOff x="0" y="0"/>
            <a:chExt cx="585456" cy="624693"/>
          </a:xfrm>
        </p:grpSpPr>
        <p:sp>
          <p:nvSpPr>
            <p:cNvPr id="45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6" name="Google Shape;314;p9"/>
          <p:cNvGrpSpPr/>
          <p:nvPr/>
        </p:nvGrpSpPr>
        <p:grpSpPr>
          <a:xfrm>
            <a:off x="1308987" y="2826566"/>
            <a:ext cx="585456" cy="624695"/>
            <a:chOff x="0" y="0"/>
            <a:chExt cx="585455" cy="624693"/>
          </a:xfrm>
        </p:grpSpPr>
        <p:sp>
          <p:nvSpPr>
            <p:cNvPr id="454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5" name="1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59" name="Google Shape;315;p9"/>
          <p:cNvGrpSpPr/>
          <p:nvPr/>
        </p:nvGrpSpPr>
        <p:grpSpPr>
          <a:xfrm>
            <a:off x="1894438" y="2826566"/>
            <a:ext cx="585458" cy="624695"/>
            <a:chOff x="0" y="0"/>
            <a:chExt cx="585456" cy="624693"/>
          </a:xfrm>
        </p:grpSpPr>
        <p:sp>
          <p:nvSpPr>
            <p:cNvPr id="45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58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62" name="Google Shape;316;p9"/>
          <p:cNvGrpSpPr/>
          <p:nvPr/>
        </p:nvGrpSpPr>
        <p:grpSpPr>
          <a:xfrm>
            <a:off x="2479891" y="2826566"/>
            <a:ext cx="585458" cy="624695"/>
            <a:chOff x="0" y="0"/>
            <a:chExt cx="585456" cy="624693"/>
          </a:xfrm>
        </p:grpSpPr>
        <p:sp>
          <p:nvSpPr>
            <p:cNvPr id="46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1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65" name="Google Shape;317;p9"/>
          <p:cNvGrpSpPr/>
          <p:nvPr/>
        </p:nvGrpSpPr>
        <p:grpSpPr>
          <a:xfrm>
            <a:off x="1308987" y="3451256"/>
            <a:ext cx="585456" cy="624695"/>
            <a:chOff x="0" y="0"/>
            <a:chExt cx="585455" cy="624693"/>
          </a:xfrm>
        </p:grpSpPr>
        <p:sp>
          <p:nvSpPr>
            <p:cNvPr id="463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4" name="0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68" name="Google Shape;318;p9"/>
          <p:cNvGrpSpPr/>
          <p:nvPr/>
        </p:nvGrpSpPr>
        <p:grpSpPr>
          <a:xfrm>
            <a:off x="1894438" y="3451256"/>
            <a:ext cx="585458" cy="624695"/>
            <a:chOff x="0" y="0"/>
            <a:chExt cx="585456" cy="624693"/>
          </a:xfrm>
        </p:grpSpPr>
        <p:sp>
          <p:nvSpPr>
            <p:cNvPr id="46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67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1" name="Google Shape;319;p9"/>
          <p:cNvGrpSpPr/>
          <p:nvPr/>
        </p:nvGrpSpPr>
        <p:grpSpPr>
          <a:xfrm>
            <a:off x="2479891" y="3451256"/>
            <a:ext cx="585458" cy="624695"/>
            <a:chOff x="0" y="0"/>
            <a:chExt cx="585456" cy="624693"/>
          </a:xfrm>
        </p:grpSpPr>
        <p:sp>
          <p:nvSpPr>
            <p:cNvPr id="46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0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4" name="Google Shape;320;p9"/>
          <p:cNvGrpSpPr/>
          <p:nvPr/>
        </p:nvGrpSpPr>
        <p:grpSpPr>
          <a:xfrm>
            <a:off x="723535" y="2201876"/>
            <a:ext cx="585458" cy="624695"/>
            <a:chOff x="0" y="0"/>
            <a:chExt cx="585456" cy="624693"/>
          </a:xfrm>
        </p:grpSpPr>
        <p:sp>
          <p:nvSpPr>
            <p:cNvPr id="472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3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77" name="Google Shape;321;p9"/>
          <p:cNvGrpSpPr/>
          <p:nvPr/>
        </p:nvGrpSpPr>
        <p:grpSpPr>
          <a:xfrm>
            <a:off x="1308987" y="4075947"/>
            <a:ext cx="585456" cy="624695"/>
            <a:chOff x="0" y="0"/>
            <a:chExt cx="585455" cy="624693"/>
          </a:xfrm>
        </p:grpSpPr>
        <p:sp>
          <p:nvSpPr>
            <p:cNvPr id="475" name="Rektangel"/>
            <p:cNvSpPr/>
            <p:nvPr/>
          </p:nvSpPr>
          <p:spPr>
            <a:xfrm>
              <a:off x="-1" y="-1"/>
              <a:ext cx="585456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6" name="1"/>
            <p:cNvSpPr txBox="1"/>
            <p:nvPr/>
          </p:nvSpPr>
          <p:spPr>
            <a:xfrm>
              <a:off x="55249" y="126944"/>
              <a:ext cx="474956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80" name="Google Shape;322;p9"/>
          <p:cNvGrpSpPr/>
          <p:nvPr/>
        </p:nvGrpSpPr>
        <p:grpSpPr>
          <a:xfrm>
            <a:off x="1894438" y="4075947"/>
            <a:ext cx="585458" cy="624695"/>
            <a:chOff x="0" y="0"/>
            <a:chExt cx="585456" cy="624693"/>
          </a:xfrm>
        </p:grpSpPr>
        <p:sp>
          <p:nvSpPr>
            <p:cNvPr id="47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79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83" name="Google Shape;323;p9"/>
          <p:cNvGrpSpPr/>
          <p:nvPr/>
        </p:nvGrpSpPr>
        <p:grpSpPr>
          <a:xfrm>
            <a:off x="2479891" y="4075947"/>
            <a:ext cx="585458" cy="624695"/>
            <a:chOff x="0" y="0"/>
            <a:chExt cx="585456" cy="624693"/>
          </a:xfrm>
        </p:grpSpPr>
        <p:sp>
          <p:nvSpPr>
            <p:cNvPr id="48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2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86" name="Google Shape;324;p9"/>
          <p:cNvGrpSpPr/>
          <p:nvPr/>
        </p:nvGrpSpPr>
        <p:grpSpPr>
          <a:xfrm>
            <a:off x="1301590" y="4700636"/>
            <a:ext cx="585458" cy="624695"/>
            <a:chOff x="0" y="0"/>
            <a:chExt cx="585456" cy="624693"/>
          </a:xfrm>
        </p:grpSpPr>
        <p:sp>
          <p:nvSpPr>
            <p:cNvPr id="48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5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489" name="Google Shape;325;p9"/>
          <p:cNvGrpSpPr/>
          <p:nvPr/>
        </p:nvGrpSpPr>
        <p:grpSpPr>
          <a:xfrm>
            <a:off x="1887042" y="4709618"/>
            <a:ext cx="585458" cy="624697"/>
            <a:chOff x="0" y="-1"/>
            <a:chExt cx="585456" cy="624696"/>
          </a:xfrm>
        </p:grpSpPr>
        <p:sp>
          <p:nvSpPr>
            <p:cNvPr id="487" name="Rektangel"/>
            <p:cNvSpPr/>
            <p:nvPr/>
          </p:nvSpPr>
          <p:spPr>
            <a:xfrm>
              <a:off x="-1" y="-2"/>
              <a:ext cx="585458" cy="624698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88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92" name="Google Shape;326;p9"/>
          <p:cNvGrpSpPr/>
          <p:nvPr/>
        </p:nvGrpSpPr>
        <p:grpSpPr>
          <a:xfrm>
            <a:off x="2472662" y="4718604"/>
            <a:ext cx="585458" cy="624695"/>
            <a:chOff x="0" y="0"/>
            <a:chExt cx="585456" cy="624693"/>
          </a:xfrm>
        </p:grpSpPr>
        <p:sp>
          <p:nvSpPr>
            <p:cNvPr id="49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495" name="Google Shape;327;p9"/>
          <p:cNvGrpSpPr/>
          <p:nvPr/>
        </p:nvGrpSpPr>
        <p:grpSpPr>
          <a:xfrm>
            <a:off x="723535" y="2826566"/>
            <a:ext cx="585458" cy="624695"/>
            <a:chOff x="0" y="0"/>
            <a:chExt cx="585456" cy="624693"/>
          </a:xfrm>
        </p:grpSpPr>
        <p:sp>
          <p:nvSpPr>
            <p:cNvPr id="493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4" name="2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498" name="Google Shape;328;p9"/>
          <p:cNvGrpSpPr/>
          <p:nvPr/>
        </p:nvGrpSpPr>
        <p:grpSpPr>
          <a:xfrm>
            <a:off x="716137" y="4075947"/>
            <a:ext cx="585458" cy="624695"/>
            <a:chOff x="0" y="0"/>
            <a:chExt cx="585456" cy="624693"/>
          </a:xfrm>
        </p:grpSpPr>
        <p:sp>
          <p:nvSpPr>
            <p:cNvPr id="496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497" name="4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501" name="Google Shape;329;p9"/>
          <p:cNvGrpSpPr/>
          <p:nvPr/>
        </p:nvGrpSpPr>
        <p:grpSpPr>
          <a:xfrm>
            <a:off x="723535" y="3451256"/>
            <a:ext cx="585458" cy="624695"/>
            <a:chOff x="0" y="0"/>
            <a:chExt cx="585456" cy="624693"/>
          </a:xfrm>
        </p:grpSpPr>
        <p:sp>
          <p:nvSpPr>
            <p:cNvPr id="499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0" name="3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504" name="Google Shape;330;p9"/>
          <p:cNvGrpSpPr/>
          <p:nvPr/>
        </p:nvGrpSpPr>
        <p:grpSpPr>
          <a:xfrm>
            <a:off x="716137" y="1577187"/>
            <a:ext cx="585458" cy="624694"/>
            <a:chOff x="0" y="0"/>
            <a:chExt cx="585456" cy="624693"/>
          </a:xfrm>
        </p:grpSpPr>
        <p:sp>
          <p:nvSpPr>
            <p:cNvPr id="502" name="Rektangel"/>
            <p:cNvSpPr/>
            <p:nvPr/>
          </p:nvSpPr>
          <p:spPr>
            <a:xfrm>
              <a:off x="-1" y="-1"/>
              <a:ext cx="585458" cy="624694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3" name="Bit N"/>
            <p:cNvSpPr txBox="1"/>
            <p:nvPr/>
          </p:nvSpPr>
          <p:spPr>
            <a:xfrm>
              <a:off x="55249" y="190445"/>
              <a:ext cx="474957" cy="243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Bit N</a:t>
              </a:r>
            </a:p>
          </p:txBody>
        </p:sp>
      </p:grpSp>
      <p:grpSp>
        <p:nvGrpSpPr>
          <p:cNvPr id="507" name="Google Shape;331;p9"/>
          <p:cNvGrpSpPr/>
          <p:nvPr/>
        </p:nvGrpSpPr>
        <p:grpSpPr>
          <a:xfrm>
            <a:off x="716137" y="4709618"/>
            <a:ext cx="585458" cy="624697"/>
            <a:chOff x="0" y="-1"/>
            <a:chExt cx="585456" cy="624696"/>
          </a:xfrm>
        </p:grpSpPr>
        <p:sp>
          <p:nvSpPr>
            <p:cNvPr id="505" name="Rektangel"/>
            <p:cNvSpPr/>
            <p:nvPr/>
          </p:nvSpPr>
          <p:spPr>
            <a:xfrm>
              <a:off x="-1" y="-2"/>
              <a:ext cx="585458" cy="624698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6" name="14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14</a:t>
              </a:r>
            </a:p>
          </p:txBody>
        </p:sp>
      </p:grpSp>
      <p:grpSp>
        <p:nvGrpSpPr>
          <p:cNvPr id="510" name="Google Shape;332;p9"/>
          <p:cNvGrpSpPr/>
          <p:nvPr/>
        </p:nvGrpSpPr>
        <p:grpSpPr>
          <a:xfrm>
            <a:off x="1286963" y="5334311"/>
            <a:ext cx="585458" cy="624695"/>
            <a:chOff x="0" y="0"/>
            <a:chExt cx="585456" cy="624693"/>
          </a:xfrm>
        </p:grpSpPr>
        <p:sp>
          <p:nvSpPr>
            <p:cNvPr id="508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09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13" name="Google Shape;333;p9"/>
          <p:cNvGrpSpPr/>
          <p:nvPr/>
        </p:nvGrpSpPr>
        <p:grpSpPr>
          <a:xfrm>
            <a:off x="1872418" y="5343293"/>
            <a:ext cx="585458" cy="624695"/>
            <a:chOff x="0" y="0"/>
            <a:chExt cx="585456" cy="624693"/>
          </a:xfrm>
        </p:grpSpPr>
        <p:sp>
          <p:nvSpPr>
            <p:cNvPr id="511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2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516" name="Google Shape;334;p9"/>
          <p:cNvGrpSpPr/>
          <p:nvPr/>
        </p:nvGrpSpPr>
        <p:grpSpPr>
          <a:xfrm>
            <a:off x="2472662" y="5343293"/>
            <a:ext cx="585458" cy="624695"/>
            <a:chOff x="0" y="0"/>
            <a:chExt cx="585456" cy="624693"/>
          </a:xfrm>
        </p:grpSpPr>
        <p:sp>
          <p:nvSpPr>
            <p:cNvPr id="51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5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grpSp>
        <p:nvGrpSpPr>
          <p:cNvPr id="519" name="Google Shape;335;p9"/>
          <p:cNvGrpSpPr/>
          <p:nvPr/>
        </p:nvGrpSpPr>
        <p:grpSpPr>
          <a:xfrm>
            <a:off x="716307" y="5343293"/>
            <a:ext cx="585458" cy="624695"/>
            <a:chOff x="0" y="0"/>
            <a:chExt cx="585456" cy="624693"/>
          </a:xfrm>
        </p:grpSpPr>
        <p:sp>
          <p:nvSpPr>
            <p:cNvPr id="51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18" name="15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15</a:t>
              </a:r>
            </a:p>
          </p:txBody>
        </p:sp>
      </p:grpSp>
      <p:grpSp>
        <p:nvGrpSpPr>
          <p:cNvPr id="522" name="Google Shape;336;p9"/>
          <p:cNvGrpSpPr/>
          <p:nvPr/>
        </p:nvGrpSpPr>
        <p:grpSpPr>
          <a:xfrm>
            <a:off x="1294269" y="5950018"/>
            <a:ext cx="585458" cy="624694"/>
            <a:chOff x="0" y="0"/>
            <a:chExt cx="585456" cy="624693"/>
          </a:xfrm>
        </p:grpSpPr>
        <p:sp>
          <p:nvSpPr>
            <p:cNvPr id="520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1" name="1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523" name="Google Shape;337;p9"/>
          <p:cNvSpPr/>
          <p:nvPr/>
        </p:nvSpPr>
        <p:spPr>
          <a:xfrm>
            <a:off x="1872420" y="5959002"/>
            <a:ext cx="585453" cy="624693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 lim="8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grpSp>
        <p:nvGrpSpPr>
          <p:cNvPr id="526" name="Google Shape;338;p9"/>
          <p:cNvGrpSpPr/>
          <p:nvPr/>
        </p:nvGrpSpPr>
        <p:grpSpPr>
          <a:xfrm>
            <a:off x="2472662" y="5959000"/>
            <a:ext cx="585458" cy="624695"/>
            <a:chOff x="0" y="0"/>
            <a:chExt cx="585456" cy="624693"/>
          </a:xfrm>
        </p:grpSpPr>
        <p:sp>
          <p:nvSpPr>
            <p:cNvPr id="524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5" name="0"/>
            <p:cNvSpPr txBox="1"/>
            <p:nvPr/>
          </p:nvSpPr>
          <p:spPr>
            <a:xfrm>
              <a:off x="55249" y="126944"/>
              <a:ext cx="474957" cy="37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0</a:t>
              </a:r>
            </a:p>
          </p:txBody>
        </p:sp>
      </p:grpSp>
      <p:grpSp>
        <p:nvGrpSpPr>
          <p:cNvPr id="529" name="Google Shape;339;p9"/>
          <p:cNvGrpSpPr/>
          <p:nvPr/>
        </p:nvGrpSpPr>
        <p:grpSpPr>
          <a:xfrm>
            <a:off x="719146" y="5950018"/>
            <a:ext cx="585458" cy="624694"/>
            <a:chOff x="0" y="0"/>
            <a:chExt cx="585456" cy="624693"/>
          </a:xfrm>
        </p:grpSpPr>
        <p:sp>
          <p:nvSpPr>
            <p:cNvPr id="527" name="Rektangel"/>
            <p:cNvSpPr/>
            <p:nvPr/>
          </p:nvSpPr>
          <p:spPr>
            <a:xfrm>
              <a:off x="-1" y="-1"/>
              <a:ext cx="585458" cy="624695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28" name="Parity bit"/>
            <p:cNvSpPr txBox="1"/>
            <p:nvPr/>
          </p:nvSpPr>
          <p:spPr>
            <a:xfrm>
              <a:off x="55250" y="114244"/>
              <a:ext cx="474957" cy="396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Parity bit</a:t>
              </a:r>
            </a:p>
          </p:txBody>
        </p:sp>
      </p:grpSp>
      <p:pic>
        <p:nvPicPr>
          <p:cNvPr id="530" name="Google Shape;340;p9" descr="Google Shape;340;p9"/>
          <p:cNvPicPr>
            <a:picLocks noChangeAspect="1"/>
          </p:cNvPicPr>
          <p:nvPr/>
        </p:nvPicPr>
        <p:blipFill>
          <a:blip r:embed="rId2"/>
          <a:srcRect b="70601"/>
          <a:stretch>
            <a:fillRect/>
          </a:stretch>
        </p:blipFill>
        <p:spPr>
          <a:xfrm>
            <a:off x="709793" y="604221"/>
            <a:ext cx="2355555" cy="9729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Google Shape;341;p9" descr="Google Shape;341;p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786" y="1802819"/>
            <a:ext cx="8029679" cy="38438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34" name="Google Shape;342;p9"/>
          <p:cNvGrpSpPr/>
          <p:nvPr/>
        </p:nvGrpSpPr>
        <p:grpSpPr>
          <a:xfrm>
            <a:off x="8401673" y="5172566"/>
            <a:ext cx="3830134" cy="948188"/>
            <a:chOff x="0" y="0"/>
            <a:chExt cx="3830132" cy="948186"/>
          </a:xfrm>
        </p:grpSpPr>
        <p:sp>
          <p:nvSpPr>
            <p:cNvPr id="532" name="Form"/>
            <p:cNvSpPr/>
            <p:nvPr/>
          </p:nvSpPr>
          <p:spPr>
            <a:xfrm>
              <a:off x="-1" y="-1"/>
              <a:ext cx="3830134" cy="948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399" y="0"/>
                    <a:pt x="891" y="0"/>
                  </a:cubicBezTo>
                  <a:lnTo>
                    <a:pt x="20709" y="0"/>
                  </a:lnTo>
                  <a:cubicBezTo>
                    <a:pt x="21201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201" y="21600"/>
                    <a:pt x="20709" y="21600"/>
                  </a:cubicBezTo>
                  <a:lnTo>
                    <a:pt x="891" y="21600"/>
                  </a:lnTo>
                  <a:cubicBezTo>
                    <a:pt x="399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533" name="if transfer_bit_nr = PARITY_TO_TXD  then…"/>
            <p:cNvSpPr txBox="1"/>
            <p:nvPr/>
          </p:nvSpPr>
          <p:spPr>
            <a:xfrm>
              <a:off x="134265" y="212490"/>
              <a:ext cx="3561602" cy="523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if transfer_bit_nr = PARITY_TO_TXD  then </a:t>
              </a:r>
            </a:p>
            <a:p>
              <a:pPr algn="ctr"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      ssi_data_i  &lt;= not parity;</a:t>
              </a:r>
            </a:p>
          </p:txBody>
        </p:sp>
      </p:grpSp>
      <p:grpSp>
        <p:nvGrpSpPr>
          <p:cNvPr id="537" name="Google Shape;343;p9"/>
          <p:cNvGrpSpPr/>
          <p:nvPr/>
        </p:nvGrpSpPr>
        <p:grpSpPr>
          <a:xfrm>
            <a:off x="3943783" y="1745412"/>
            <a:ext cx="3069496" cy="1170899"/>
            <a:chOff x="-1" y="0"/>
            <a:chExt cx="3069494" cy="1170898"/>
          </a:xfrm>
        </p:grpSpPr>
        <p:sp>
          <p:nvSpPr>
            <p:cNvPr id="535" name="Form"/>
            <p:cNvSpPr/>
            <p:nvPr/>
          </p:nvSpPr>
          <p:spPr>
            <a:xfrm>
              <a:off x="-2" y="57407"/>
              <a:ext cx="3069496" cy="1056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555" y="0"/>
                    <a:pt x="1239" y="0"/>
                  </a:cubicBezTo>
                  <a:lnTo>
                    <a:pt x="20361" y="0"/>
                  </a:lnTo>
                  <a:cubicBezTo>
                    <a:pt x="21045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045" y="21600"/>
                    <a:pt x="20361" y="21600"/>
                  </a:cubicBezTo>
                  <a:lnTo>
                    <a:pt x="1239" y="21600"/>
                  </a:lnTo>
                  <a:cubicBezTo>
                    <a:pt x="555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endParaRPr/>
            </a:p>
          </p:txBody>
        </p:sp>
        <p:sp>
          <p:nvSpPr>
            <p:cNvPr id="536" name="if eval_parity  = '1' then…"/>
            <p:cNvSpPr txBox="1"/>
            <p:nvPr/>
          </p:nvSpPr>
          <p:spPr>
            <a:xfrm>
              <a:off x="143256" y="-1"/>
              <a:ext cx="2782980" cy="1170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/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if eval_parity  = '1' then  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parity  &lt;= parity xor ssi_data_i;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  eval_parity &lt;= '0';</a:t>
              </a:r>
            </a:p>
            <a:p>
              <a:pPr>
                <a:defRPr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pPr>
              <a:r>
                <a:t>    end if; </a:t>
              </a:r>
            </a:p>
          </p:txBody>
        </p:sp>
      </p:grpSp>
      <p:sp>
        <p:nvSpPr>
          <p:cNvPr id="538" name="Google Shape;344;p9"/>
          <p:cNvSpPr txBox="1"/>
          <p:nvPr/>
        </p:nvSpPr>
        <p:spPr>
          <a:xfrm>
            <a:off x="5376850" y="500331"/>
            <a:ext cx="3640045" cy="764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4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Parity bit</a:t>
            </a:r>
          </a:p>
        </p:txBody>
      </p:sp>
      <p:sp>
        <p:nvSpPr>
          <p:cNvPr id="539" name="Straight Arrow Connector 2"/>
          <p:cNvSpPr/>
          <p:nvPr/>
        </p:nvSpPr>
        <p:spPr>
          <a:xfrm flipV="1">
            <a:off x="3136392" y="5870447"/>
            <a:ext cx="5148072" cy="594363"/>
          </a:xfrm>
          <a:prstGeom prst="line">
            <a:avLst/>
          </a:prstGeom>
          <a:ln w="25400">
            <a:solidFill>
              <a:schemeClr val="accent6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0" name="TextBox 3"/>
          <p:cNvSpPr txBox="1"/>
          <p:nvPr/>
        </p:nvSpPr>
        <p:spPr>
          <a:xfrm rot="21043572">
            <a:off x="3843154" y="5966981"/>
            <a:ext cx="1399035" cy="28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inverterad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272;p7"/>
          <p:cNvSpPr txBox="1"/>
          <p:nvPr/>
        </p:nvSpPr>
        <p:spPr>
          <a:xfrm>
            <a:off x="778967" y="249550"/>
            <a:ext cx="4325279" cy="954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Verifiering med ModelSim   </a:t>
            </a:r>
          </a:p>
          <a:p>
            <a:pPr>
              <a:defRPr sz="2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t> </a:t>
            </a:r>
          </a:p>
        </p:txBody>
      </p:sp>
      <p:pic>
        <p:nvPicPr>
          <p:cNvPr id="543" name="Google Shape;273;p7" descr="Google Shape;273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744" y="242889"/>
            <a:ext cx="522925" cy="522924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" name="Picture 1" descr="Picture 1"/>
          <p:cNvPicPr>
            <a:picLocks noChangeAspect="1"/>
          </p:cNvPicPr>
          <p:nvPr/>
        </p:nvPicPr>
        <p:blipFill>
          <a:blip r:embed="rId3"/>
          <a:srcRect l="1187" t="5783" r="9811"/>
          <a:stretch>
            <a:fillRect/>
          </a:stretch>
        </p:blipFill>
        <p:spPr>
          <a:xfrm>
            <a:off x="222005" y="1366339"/>
            <a:ext cx="11747805" cy="363252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8" name="Action Button: Return 2">
            <a:hlinkClick r:id="rId4" action="ppaction://hlinksldjump"/>
          </p:cNvPr>
          <p:cNvGrpSpPr/>
          <p:nvPr/>
        </p:nvGrpSpPr>
        <p:grpSpPr>
          <a:xfrm>
            <a:off x="10463840" y="5607167"/>
            <a:ext cx="1130066" cy="595228"/>
            <a:chOff x="-1" y="0"/>
            <a:chExt cx="1130065" cy="595227"/>
          </a:xfrm>
        </p:grpSpPr>
        <p:sp>
          <p:nvSpPr>
            <p:cNvPr id="545" name="Rektangel"/>
            <p:cNvSpPr/>
            <p:nvPr/>
          </p:nvSpPr>
          <p:spPr>
            <a:xfrm>
              <a:off x="0" y="-1"/>
              <a:ext cx="1130063" cy="59522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46" name="Form"/>
            <p:cNvSpPr/>
            <p:nvPr/>
          </p:nvSpPr>
          <p:spPr>
            <a:xfrm>
              <a:off x="341821" y="74402"/>
              <a:ext cx="446420" cy="446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lnTo>
                    <a:pt x="16200" y="0"/>
                  </a:lnTo>
                  <a:lnTo>
                    <a:pt x="10800" y="5400"/>
                  </a:lnTo>
                  <a:lnTo>
                    <a:pt x="13500" y="5400"/>
                  </a:lnTo>
                  <a:lnTo>
                    <a:pt x="13500" y="13500"/>
                  </a:lnTo>
                  <a:cubicBezTo>
                    <a:pt x="13500" y="14991"/>
                    <a:pt x="12291" y="16200"/>
                    <a:pt x="10800" y="16200"/>
                  </a:cubicBezTo>
                  <a:lnTo>
                    <a:pt x="8100" y="16200"/>
                  </a:lnTo>
                  <a:cubicBezTo>
                    <a:pt x="6609" y="16200"/>
                    <a:pt x="5400" y="14991"/>
                    <a:pt x="5400" y="13500"/>
                  </a:cubicBezTo>
                  <a:lnTo>
                    <a:pt x="5400" y="5400"/>
                  </a:lnTo>
                  <a:lnTo>
                    <a:pt x="0" y="5400"/>
                  </a:lnTo>
                  <a:lnTo>
                    <a:pt x="0" y="13500"/>
                  </a:lnTo>
                  <a:cubicBezTo>
                    <a:pt x="0" y="17974"/>
                    <a:pt x="3626" y="21600"/>
                    <a:pt x="8100" y="21600"/>
                  </a:cubicBezTo>
                  <a:lnTo>
                    <a:pt x="10800" y="21600"/>
                  </a:lnTo>
                  <a:cubicBezTo>
                    <a:pt x="15274" y="21600"/>
                    <a:pt x="18900" y="17974"/>
                    <a:pt x="18900" y="13500"/>
                  </a:cubicBezTo>
                  <a:lnTo>
                    <a:pt x="18900" y="54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47" name="Form"/>
            <p:cNvSpPr/>
            <p:nvPr/>
          </p:nvSpPr>
          <p:spPr>
            <a:xfrm>
              <a:off x="-2" y="-1"/>
              <a:ext cx="1130067" cy="595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066" y="6750"/>
                  </a:moveTo>
                  <a:lnTo>
                    <a:pt x="14000" y="6750"/>
                  </a:lnTo>
                  <a:lnTo>
                    <a:pt x="14000" y="12825"/>
                  </a:lnTo>
                  <a:cubicBezTo>
                    <a:pt x="14000" y="16180"/>
                    <a:pt x="12567" y="18900"/>
                    <a:pt x="10800" y="18900"/>
                  </a:cubicBezTo>
                  <a:lnTo>
                    <a:pt x="9733" y="18900"/>
                  </a:lnTo>
                  <a:cubicBezTo>
                    <a:pt x="7966" y="18900"/>
                    <a:pt x="6534" y="16180"/>
                    <a:pt x="6534" y="12825"/>
                  </a:cubicBezTo>
                  <a:lnTo>
                    <a:pt x="6534" y="6750"/>
                  </a:lnTo>
                  <a:lnTo>
                    <a:pt x="8667" y="6750"/>
                  </a:lnTo>
                  <a:lnTo>
                    <a:pt x="8667" y="12825"/>
                  </a:lnTo>
                  <a:cubicBezTo>
                    <a:pt x="8667" y="13943"/>
                    <a:pt x="9144" y="14850"/>
                    <a:pt x="9733" y="14850"/>
                  </a:cubicBezTo>
                  <a:lnTo>
                    <a:pt x="10800" y="14850"/>
                  </a:lnTo>
                  <a:cubicBezTo>
                    <a:pt x="11389" y="14850"/>
                    <a:pt x="11867" y="13943"/>
                    <a:pt x="11867" y="12825"/>
                  </a:cubicBezTo>
                  <a:lnTo>
                    <a:pt x="11867" y="6750"/>
                  </a:lnTo>
                  <a:lnTo>
                    <a:pt x="10800" y="6750"/>
                  </a:lnTo>
                  <a:lnTo>
                    <a:pt x="12933" y="2700"/>
                  </a:lnTo>
                  <a:close/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00121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349;p10"/>
          <p:cNvSpPr txBox="1">
            <a:spLocks noGrp="1"/>
          </p:cNvSpPr>
          <p:nvPr>
            <p:ph type="title"/>
          </p:nvPr>
        </p:nvSpPr>
        <p:spPr>
          <a:xfrm>
            <a:off x="2007374" y="2217378"/>
            <a:ext cx="8004720" cy="299258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1" name="Google Shape;350;p10"/>
          <p:cNvSpPr txBox="1">
            <a:spLocks noGrp="1"/>
          </p:cNvSpPr>
          <p:nvPr>
            <p:ph type="sldNum" sz="quarter" idx="4294967295"/>
          </p:nvPr>
        </p:nvSpPr>
        <p:spPr>
          <a:xfrm>
            <a:off x="11391806" y="6390159"/>
            <a:ext cx="160604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568" name="Google Shape;351;p10"/>
          <p:cNvGrpSpPr/>
          <p:nvPr/>
        </p:nvGrpSpPr>
        <p:grpSpPr>
          <a:xfrm>
            <a:off x="1490735" y="888996"/>
            <a:ext cx="8138857" cy="5080005"/>
            <a:chOff x="0" y="0"/>
            <a:chExt cx="8138855" cy="5080003"/>
          </a:xfrm>
        </p:grpSpPr>
        <p:sp>
          <p:nvSpPr>
            <p:cNvPr id="552" name="Google Shape;352;p10"/>
            <p:cNvSpPr/>
            <p:nvPr/>
          </p:nvSpPr>
          <p:spPr>
            <a:xfrm>
              <a:off x="10852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3" name="Google Shape;353;p10"/>
            <p:cNvSpPr txBox="1"/>
            <p:nvPr/>
          </p:nvSpPr>
          <p:spPr>
            <a:xfrm>
              <a:off x="10852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Skickar charge- signal (25 us)</a:t>
              </a:r>
            </a:p>
          </p:txBody>
        </p:sp>
        <p:sp>
          <p:nvSpPr>
            <p:cNvPr id="554" name="Google Shape;354;p10"/>
            <p:cNvSpPr/>
            <p:nvPr/>
          </p:nvSpPr>
          <p:spPr>
            <a:xfrm>
              <a:off x="2804853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5" name="Google Shape;355;p10"/>
            <p:cNvSpPr txBox="1"/>
            <p:nvPr/>
          </p:nvSpPr>
          <p:spPr>
            <a:xfrm>
              <a:off x="2804853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Skickar 1 MHz- klocka</a:t>
              </a:r>
            </a:p>
          </p:txBody>
        </p:sp>
        <p:sp>
          <p:nvSpPr>
            <p:cNvPr id="556" name="Google Shape;356;p10"/>
            <p:cNvSpPr/>
            <p:nvPr/>
          </p:nvSpPr>
          <p:spPr>
            <a:xfrm>
              <a:off x="5598853" y="-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7" name="Google Shape;357;p10"/>
            <p:cNvSpPr txBox="1"/>
            <p:nvPr/>
          </p:nvSpPr>
          <p:spPr>
            <a:xfrm>
              <a:off x="5598853" y="380373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Tar emot data från slave </a:t>
              </a:r>
            </a:p>
          </p:txBody>
        </p:sp>
        <p:sp>
          <p:nvSpPr>
            <p:cNvPr id="558" name="Google Shape;358;p10"/>
            <p:cNvSpPr/>
            <p:nvPr/>
          </p:nvSpPr>
          <p:spPr>
            <a:xfrm>
              <a:off x="10852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59" name="Google Shape;359;p10"/>
            <p:cNvSpPr txBox="1"/>
            <p:nvPr/>
          </p:nvSpPr>
          <p:spPr>
            <a:xfrm>
              <a:off x="10852" y="2158374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Konfigureras med pythonskript </a:t>
              </a:r>
            </a:p>
          </p:txBody>
        </p:sp>
        <p:sp>
          <p:nvSpPr>
            <p:cNvPr id="560" name="Google Shape;360;p10"/>
            <p:cNvSpPr/>
            <p:nvPr/>
          </p:nvSpPr>
          <p:spPr>
            <a:xfrm>
              <a:off x="2804853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1" name="Google Shape;361;p10"/>
            <p:cNvSpPr txBox="1"/>
            <p:nvPr/>
          </p:nvSpPr>
          <p:spPr>
            <a:xfrm>
              <a:off x="2804853" y="1729750"/>
              <a:ext cx="2540002" cy="1620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Aktiveras separat ssi2-klocka och charge-puls (behövs för testning)</a:t>
              </a:r>
            </a:p>
          </p:txBody>
        </p:sp>
        <p:sp>
          <p:nvSpPr>
            <p:cNvPr id="562" name="Google Shape;362;p10"/>
            <p:cNvSpPr/>
            <p:nvPr/>
          </p:nvSpPr>
          <p:spPr>
            <a:xfrm>
              <a:off x="5598853" y="1778000"/>
              <a:ext cx="2540002" cy="1524001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3" name="Google Shape;363;p10"/>
            <p:cNvSpPr txBox="1"/>
            <p:nvPr/>
          </p:nvSpPr>
          <p:spPr>
            <a:xfrm>
              <a:off x="5598853" y="2015499"/>
              <a:ext cx="2540002" cy="1048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rPr lang="en-SE" dirty="0" err="1"/>
                <a:t>Integreras</a:t>
              </a:r>
              <a:r>
                <a:rPr lang="en-SE" dirty="0"/>
                <a:t> </a:t>
              </a:r>
              <a:r>
                <a:rPr dirty="0"/>
                <a:t>med slave </a:t>
              </a:r>
              <a:r>
                <a:rPr dirty="0" err="1"/>
                <a:t>i</a:t>
              </a:r>
              <a:r>
                <a:rPr dirty="0"/>
                <a:t> </a:t>
              </a:r>
              <a:r>
                <a:rPr dirty="0" err="1"/>
                <a:t>testbänk</a:t>
              </a:r>
              <a:r>
                <a:rPr dirty="0"/>
                <a:t> för </a:t>
              </a:r>
              <a:r>
                <a:rPr dirty="0" err="1"/>
                <a:t>verifiering</a:t>
              </a:r>
              <a:r>
                <a:rPr dirty="0"/>
                <a:t> </a:t>
              </a:r>
            </a:p>
          </p:txBody>
        </p:sp>
        <p:sp>
          <p:nvSpPr>
            <p:cNvPr id="564" name="Google Shape;364;p10"/>
            <p:cNvSpPr/>
            <p:nvPr/>
          </p:nvSpPr>
          <p:spPr>
            <a:xfrm>
              <a:off x="-1" y="355600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5" name="Google Shape;365;p10"/>
            <p:cNvSpPr txBox="1"/>
            <p:nvPr/>
          </p:nvSpPr>
          <p:spPr>
            <a:xfrm>
              <a:off x="10851" y="3936376"/>
              <a:ext cx="2540002" cy="763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Verifieras på hårdvaran </a:t>
              </a:r>
            </a:p>
          </p:txBody>
        </p:sp>
        <p:sp>
          <p:nvSpPr>
            <p:cNvPr id="566" name="Google Shape;366;p10"/>
            <p:cNvSpPr/>
            <p:nvPr/>
          </p:nvSpPr>
          <p:spPr>
            <a:xfrm>
              <a:off x="2804852" y="3556001"/>
              <a:ext cx="2540002" cy="1524002"/>
            </a:xfrm>
            <a:prstGeom prst="rect">
              <a:avLst/>
            </a:prstGeom>
            <a:solidFill>
              <a:schemeClr val="accent2"/>
            </a:solidFill>
            <a:ln w="1905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67" name="Google Shape;367;p10"/>
            <p:cNvSpPr txBox="1"/>
            <p:nvPr/>
          </p:nvSpPr>
          <p:spPr>
            <a:xfrm>
              <a:off x="2723382" y="3793501"/>
              <a:ext cx="2540002" cy="1048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Data skickas på första stigande flank</a:t>
              </a:r>
            </a:p>
          </p:txBody>
        </p:sp>
      </p:grpSp>
      <p:sp>
        <p:nvSpPr>
          <p:cNvPr id="569" name="Google Shape;368;p10"/>
          <p:cNvSpPr txBox="1"/>
          <p:nvPr/>
        </p:nvSpPr>
        <p:spPr>
          <a:xfrm>
            <a:off x="2311068" y="115668"/>
            <a:ext cx="1602733" cy="637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Master</a:t>
            </a:r>
          </a:p>
        </p:txBody>
      </p:sp>
      <p:pic>
        <p:nvPicPr>
          <p:cNvPr id="570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919" y="-88900"/>
            <a:ext cx="914403" cy="9144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3" name="Google Shape;367;p10"/>
          <p:cNvGrpSpPr/>
          <p:nvPr/>
        </p:nvGrpSpPr>
        <p:grpSpPr>
          <a:xfrm>
            <a:off x="7089585" y="4445000"/>
            <a:ext cx="2540006" cy="1524000"/>
            <a:chOff x="-1" y="0"/>
            <a:chExt cx="2540005" cy="1524000"/>
          </a:xfrm>
        </p:grpSpPr>
        <p:sp>
          <p:nvSpPr>
            <p:cNvPr id="571" name="Rektangel"/>
            <p:cNvSpPr/>
            <p:nvPr/>
          </p:nvSpPr>
          <p:spPr>
            <a:xfrm>
              <a:off x="-2" y="0"/>
              <a:ext cx="2540006" cy="1524000"/>
            </a:xfrm>
            <a:prstGeom prst="rect">
              <a:avLst/>
            </a:pr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90000"/>
                </a:lnSpc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572" name="Testas via UART"/>
            <p:cNvSpPr txBox="1"/>
            <p:nvPr/>
          </p:nvSpPr>
          <p:spPr>
            <a:xfrm>
              <a:off x="19048" y="523248"/>
              <a:ext cx="2501906" cy="477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9997" tIns="79997" rIns="79997" bIns="79997" numCol="1" anchor="ctr">
              <a:spAutoFit/>
            </a:bodyPr>
            <a:lstStyle>
              <a:lvl1pPr algn="ctr">
                <a:lnSpc>
                  <a:spcPct val="90000"/>
                </a:lnSpc>
                <a:defRPr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Testas via UART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Picture 1" descr="Picture 1"/>
          <p:cNvPicPr>
            <a:picLocks noChangeAspect="1"/>
          </p:cNvPicPr>
          <p:nvPr/>
        </p:nvPicPr>
        <p:blipFill>
          <a:blip r:embed="rId2"/>
          <a:srcRect l="625" t="7267" r="12750" b="3626"/>
          <a:stretch>
            <a:fillRect/>
          </a:stretch>
        </p:blipFill>
        <p:spPr>
          <a:xfrm>
            <a:off x="1271640" y="1167383"/>
            <a:ext cx="10807584" cy="3625923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extBox 2"/>
          <p:cNvSpPr txBox="1"/>
          <p:nvPr/>
        </p:nvSpPr>
        <p:spPr>
          <a:xfrm>
            <a:off x="1481326" y="347469"/>
            <a:ext cx="4998725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Masterverifikation</a:t>
            </a:r>
          </a:p>
        </p:txBody>
      </p:sp>
      <p:pic>
        <p:nvPicPr>
          <p:cNvPr id="577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58" y="4982478"/>
            <a:ext cx="6649379" cy="1619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Picture 7" descr="Picture 7"/>
          <p:cNvPicPr>
            <a:picLocks noChangeAspect="1"/>
          </p:cNvPicPr>
          <p:nvPr/>
        </p:nvPicPr>
        <p:blipFill>
          <a:blip r:embed="rId2"/>
          <a:srcRect l="10586" t="13199" r="31700" b="26532"/>
          <a:stretch>
            <a:fillRect/>
          </a:stretch>
        </p:blipFill>
        <p:spPr>
          <a:xfrm>
            <a:off x="4693916" y="600699"/>
            <a:ext cx="7498084" cy="5872259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Google Shape;383;p13"/>
          <p:cNvSpPr txBox="1"/>
          <p:nvPr/>
        </p:nvSpPr>
        <p:spPr>
          <a:xfrm>
            <a:off x="4730501" y="1864709"/>
            <a:ext cx="957064" cy="36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FFCF5D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SSI_CLK</a:t>
            </a:r>
          </a:p>
        </p:txBody>
      </p:sp>
      <p:sp>
        <p:nvSpPr>
          <p:cNvPr id="581" name="Google Shape;384;p13"/>
          <p:cNvSpPr txBox="1"/>
          <p:nvPr/>
        </p:nvSpPr>
        <p:spPr>
          <a:xfrm>
            <a:off x="4730501" y="2849921"/>
            <a:ext cx="6338309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Data</a:t>
            </a:r>
          </a:p>
        </p:txBody>
      </p:sp>
      <p:sp>
        <p:nvSpPr>
          <p:cNvPr id="582" name="Google Shape;385;p13"/>
          <p:cNvSpPr txBox="1"/>
          <p:nvPr/>
        </p:nvSpPr>
        <p:spPr>
          <a:xfrm>
            <a:off x="4657347" y="4015220"/>
            <a:ext cx="1493513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583" name="TextBox 2"/>
          <p:cNvSpPr txBox="1"/>
          <p:nvPr/>
        </p:nvSpPr>
        <p:spPr>
          <a:xfrm>
            <a:off x="667511" y="237743"/>
            <a:ext cx="4837178" cy="6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Mastervalidering</a:t>
            </a:r>
          </a:p>
        </p:txBody>
      </p:sp>
      <p:sp>
        <p:nvSpPr>
          <p:cNvPr id="584" name="TextBox 8"/>
          <p:cNvSpPr txBox="1"/>
          <p:nvPr/>
        </p:nvSpPr>
        <p:spPr>
          <a:xfrm>
            <a:off x="1430920" y="4870846"/>
            <a:ext cx="2536171" cy="30777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/>
              <a:t>charge-</a:t>
            </a:r>
            <a:r>
              <a:rPr dirty="0" err="1"/>
              <a:t>puls</a:t>
            </a:r>
            <a:r>
              <a:rPr dirty="0"/>
              <a:t> - 25 </a:t>
            </a:r>
            <a:r>
              <a:rPr lang="en-SE" dirty="0"/>
              <a:t>µs</a:t>
            </a:r>
            <a:endParaRPr dirty="0"/>
          </a:p>
        </p:txBody>
      </p:sp>
      <p:sp>
        <p:nvSpPr>
          <p:cNvPr id="585" name="Straight Arrow Connector 10"/>
          <p:cNvSpPr/>
          <p:nvPr/>
        </p:nvSpPr>
        <p:spPr>
          <a:xfrm flipV="1">
            <a:off x="4097547" y="1958194"/>
            <a:ext cx="4658267" cy="3157271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86" name="TextBox 12"/>
          <p:cNvSpPr txBox="1"/>
          <p:nvPr/>
        </p:nvSpPr>
        <p:spPr>
          <a:xfrm>
            <a:off x="2815800" y="2818356"/>
            <a:ext cx="1601304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587" name="TextBox 13"/>
          <p:cNvSpPr txBox="1"/>
          <p:nvPr/>
        </p:nvSpPr>
        <p:spPr>
          <a:xfrm>
            <a:off x="1707970" y="1918568"/>
            <a:ext cx="1583452" cy="39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Hårdkodad positionsdata</a:t>
            </a:r>
          </a:p>
        </p:txBody>
      </p:sp>
      <p:sp>
        <p:nvSpPr>
          <p:cNvPr id="588" name="Straight Arrow Connector 14"/>
          <p:cNvSpPr/>
          <p:nvPr/>
        </p:nvSpPr>
        <p:spPr>
          <a:xfrm>
            <a:off x="2996101" y="2219804"/>
            <a:ext cx="620355" cy="598554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89" name="Straight Arrow Connector 17"/>
          <p:cNvSpPr/>
          <p:nvPr/>
        </p:nvSpPr>
        <p:spPr>
          <a:xfrm flipV="1">
            <a:off x="4417102" y="2519078"/>
            <a:ext cx="2880847" cy="453167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390;p14" descr="Google Shape;390;p14"/>
          <p:cNvPicPr>
            <a:picLocks noChangeAspect="1"/>
          </p:cNvPicPr>
          <p:nvPr/>
        </p:nvPicPr>
        <p:blipFill>
          <a:blip r:embed="rId2"/>
          <a:srcRect l="8949" t="10620" r="8434" b="12380"/>
          <a:stretch>
            <a:fillRect/>
          </a:stretch>
        </p:blipFill>
        <p:spPr>
          <a:xfrm>
            <a:off x="4068705" y="813815"/>
            <a:ext cx="7466875" cy="5440682"/>
          </a:xfrm>
          <a:prstGeom prst="rect">
            <a:avLst/>
          </a:prstGeom>
          <a:ln w="12700">
            <a:miter lim="400000"/>
          </a:ln>
        </p:spPr>
      </p:pic>
      <p:sp>
        <p:nvSpPr>
          <p:cNvPr id="592" name="Google Shape;391;p14"/>
          <p:cNvSpPr txBox="1"/>
          <p:nvPr/>
        </p:nvSpPr>
        <p:spPr>
          <a:xfrm>
            <a:off x="4068706" y="1976994"/>
            <a:ext cx="1530468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FFCF5D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SSI_CLK</a:t>
            </a:r>
          </a:p>
        </p:txBody>
      </p:sp>
      <p:sp>
        <p:nvSpPr>
          <p:cNvPr id="593" name="Google Shape;392;p14"/>
          <p:cNvSpPr txBox="1"/>
          <p:nvPr/>
        </p:nvSpPr>
        <p:spPr>
          <a:xfrm>
            <a:off x="4068705" y="2957159"/>
            <a:ext cx="1210428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Data</a:t>
            </a:r>
          </a:p>
        </p:txBody>
      </p:sp>
      <p:sp>
        <p:nvSpPr>
          <p:cNvPr id="594" name="Google Shape;393;p14"/>
          <p:cNvSpPr txBox="1"/>
          <p:nvPr/>
        </p:nvSpPr>
        <p:spPr>
          <a:xfrm>
            <a:off x="4068705" y="4142342"/>
            <a:ext cx="1866893" cy="37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595" name="TextBox 7"/>
          <p:cNvSpPr txBox="1"/>
          <p:nvPr/>
        </p:nvSpPr>
        <p:spPr>
          <a:xfrm>
            <a:off x="649223" y="603505"/>
            <a:ext cx="2990091" cy="82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Data skickas på första stigande flank</a:t>
            </a:r>
          </a:p>
        </p:txBody>
      </p:sp>
      <p:sp>
        <p:nvSpPr>
          <p:cNvPr id="596" name="Straight Arrow Connector 9"/>
          <p:cNvSpPr/>
          <p:nvPr/>
        </p:nvSpPr>
        <p:spPr>
          <a:xfrm>
            <a:off x="3433312" y="1354345"/>
            <a:ext cx="3303919" cy="1061054"/>
          </a:xfrm>
          <a:prstGeom prst="line">
            <a:avLst/>
          </a:prstGeom>
          <a:ln>
            <a:solidFill>
              <a:srgbClr val="CCCFCE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599" name="Picture 3" descr="Picture 3"/>
          <p:cNvPicPr>
            <a:picLocks noChangeAspect="1"/>
          </p:cNvPicPr>
          <p:nvPr/>
        </p:nvPicPr>
        <p:blipFill>
          <a:blip r:embed="rId2"/>
          <a:srcRect t="26567" b="35779"/>
          <a:stretch>
            <a:fillRect/>
          </a:stretch>
        </p:blipFill>
        <p:spPr>
          <a:xfrm>
            <a:off x="415806" y="4212752"/>
            <a:ext cx="6239748" cy="1775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Picture 4" descr="Picture 4"/>
          <p:cNvPicPr>
            <a:picLocks noChangeAspect="1"/>
          </p:cNvPicPr>
          <p:nvPr/>
        </p:nvPicPr>
        <p:blipFill>
          <a:blip r:embed="rId2"/>
          <a:srcRect t="64867"/>
          <a:stretch>
            <a:fillRect/>
          </a:stretch>
        </p:blipFill>
        <p:spPr>
          <a:xfrm>
            <a:off x="5539740" y="2459113"/>
            <a:ext cx="6239748" cy="1656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Picture 5" descr="Picture 5"/>
          <p:cNvPicPr>
            <a:picLocks noChangeAspect="1"/>
          </p:cNvPicPr>
          <p:nvPr/>
        </p:nvPicPr>
        <p:blipFill>
          <a:blip r:embed="rId2"/>
          <a:srcRect b="72623"/>
          <a:stretch>
            <a:fillRect/>
          </a:stretch>
        </p:blipFill>
        <p:spPr>
          <a:xfrm>
            <a:off x="324366" y="1071234"/>
            <a:ext cx="6239748" cy="1290969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TextBox 6"/>
          <p:cNvSpPr txBox="1"/>
          <p:nvPr/>
        </p:nvSpPr>
        <p:spPr>
          <a:xfrm>
            <a:off x="2607564" y="2829461"/>
            <a:ext cx="1619382" cy="326921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01010101110011</a:t>
            </a:r>
          </a:p>
        </p:txBody>
      </p:sp>
      <p:sp>
        <p:nvSpPr>
          <p:cNvPr id="603" name="TextBox 7"/>
          <p:cNvSpPr txBox="1"/>
          <p:nvPr/>
        </p:nvSpPr>
        <p:spPr>
          <a:xfrm>
            <a:off x="6912343" y="501632"/>
            <a:ext cx="5233937" cy="121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Testresultat från pythonskript</a:t>
            </a:r>
          </a:p>
        </p:txBody>
      </p:sp>
      <p:sp>
        <p:nvSpPr>
          <p:cNvPr id="604" name="Straight Arrow Connector 9"/>
          <p:cNvSpPr/>
          <p:nvPr/>
        </p:nvSpPr>
        <p:spPr>
          <a:xfrm flipV="1">
            <a:off x="2329132" y="2070337"/>
            <a:ext cx="60388" cy="759127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5" name="TextBox 10"/>
          <p:cNvSpPr txBox="1"/>
          <p:nvPr/>
        </p:nvSpPr>
        <p:spPr>
          <a:xfrm>
            <a:off x="1155088" y="2746069"/>
            <a:ext cx="3186602" cy="288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Positionsvärdet</a:t>
            </a:r>
          </a:p>
        </p:txBody>
      </p:sp>
      <p:sp>
        <p:nvSpPr>
          <p:cNvPr id="606" name="Straight Arrow Connector 14"/>
          <p:cNvSpPr/>
          <p:nvPr/>
        </p:nvSpPr>
        <p:spPr>
          <a:xfrm>
            <a:off x="3209024" y="5667554"/>
            <a:ext cx="4718653" cy="364573"/>
          </a:xfrm>
          <a:prstGeom prst="line">
            <a:avLst/>
          </a:prstGeom>
          <a:ln>
            <a:solidFill>
              <a:srgbClr val="002A43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7" name="Straight Arrow Connector 16"/>
          <p:cNvSpPr/>
          <p:nvPr/>
        </p:nvSpPr>
        <p:spPr>
          <a:xfrm flipH="1" flipV="1">
            <a:off x="3148641" y="5676181"/>
            <a:ext cx="4718652" cy="897148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08" name="TextBox 17"/>
          <p:cNvSpPr txBox="1"/>
          <p:nvPr/>
        </p:nvSpPr>
        <p:spPr>
          <a:xfrm>
            <a:off x="7943201" y="6265550"/>
            <a:ext cx="3065833" cy="28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Start bit + Positionsdata + parity bit </a:t>
            </a:r>
          </a:p>
        </p:txBody>
      </p:sp>
      <p:grpSp>
        <p:nvGrpSpPr>
          <p:cNvPr id="612" name="Action Button: Return 18">
            <a:hlinkClick r:id="rId3" action="ppaction://hlinksldjump"/>
          </p:cNvPr>
          <p:cNvGrpSpPr/>
          <p:nvPr/>
        </p:nvGrpSpPr>
        <p:grpSpPr>
          <a:xfrm>
            <a:off x="10739885" y="4718649"/>
            <a:ext cx="898796" cy="629735"/>
            <a:chOff x="-1" y="0"/>
            <a:chExt cx="898795" cy="629733"/>
          </a:xfrm>
        </p:grpSpPr>
        <p:sp>
          <p:nvSpPr>
            <p:cNvPr id="609" name="Rektangel"/>
            <p:cNvSpPr/>
            <p:nvPr/>
          </p:nvSpPr>
          <p:spPr>
            <a:xfrm>
              <a:off x="-2" y="0"/>
              <a:ext cx="898796" cy="62973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610" name="Form"/>
            <p:cNvSpPr/>
            <p:nvPr/>
          </p:nvSpPr>
          <p:spPr>
            <a:xfrm>
              <a:off x="213247" y="78715"/>
              <a:ext cx="472299" cy="472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400"/>
                  </a:moveTo>
                  <a:lnTo>
                    <a:pt x="16200" y="0"/>
                  </a:lnTo>
                  <a:lnTo>
                    <a:pt x="10800" y="5400"/>
                  </a:lnTo>
                  <a:lnTo>
                    <a:pt x="13500" y="5400"/>
                  </a:lnTo>
                  <a:lnTo>
                    <a:pt x="13500" y="13500"/>
                  </a:lnTo>
                  <a:cubicBezTo>
                    <a:pt x="13500" y="14991"/>
                    <a:pt x="12291" y="16200"/>
                    <a:pt x="10800" y="16200"/>
                  </a:cubicBezTo>
                  <a:lnTo>
                    <a:pt x="8100" y="16200"/>
                  </a:lnTo>
                  <a:cubicBezTo>
                    <a:pt x="6609" y="16200"/>
                    <a:pt x="5400" y="14991"/>
                    <a:pt x="5400" y="13500"/>
                  </a:cubicBezTo>
                  <a:lnTo>
                    <a:pt x="5400" y="5400"/>
                  </a:lnTo>
                  <a:lnTo>
                    <a:pt x="0" y="5400"/>
                  </a:lnTo>
                  <a:lnTo>
                    <a:pt x="0" y="13500"/>
                  </a:lnTo>
                  <a:cubicBezTo>
                    <a:pt x="0" y="17974"/>
                    <a:pt x="3626" y="21600"/>
                    <a:pt x="8100" y="21600"/>
                  </a:cubicBezTo>
                  <a:lnTo>
                    <a:pt x="10800" y="21600"/>
                  </a:lnTo>
                  <a:cubicBezTo>
                    <a:pt x="15274" y="21600"/>
                    <a:pt x="18900" y="17974"/>
                    <a:pt x="18900" y="13500"/>
                  </a:cubicBezTo>
                  <a:lnTo>
                    <a:pt x="18900" y="54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sp>
          <p:nvSpPr>
            <p:cNvPr id="611" name="Form"/>
            <p:cNvSpPr/>
            <p:nvPr/>
          </p:nvSpPr>
          <p:spPr>
            <a:xfrm>
              <a:off x="-2" y="0"/>
              <a:ext cx="898797" cy="629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75" y="6750"/>
                  </a:moveTo>
                  <a:lnTo>
                    <a:pt x="15056" y="6750"/>
                  </a:lnTo>
                  <a:lnTo>
                    <a:pt x="15056" y="12825"/>
                  </a:lnTo>
                  <a:cubicBezTo>
                    <a:pt x="15056" y="16180"/>
                    <a:pt x="13151" y="18900"/>
                    <a:pt x="10800" y="18900"/>
                  </a:cubicBezTo>
                  <a:lnTo>
                    <a:pt x="9381" y="18900"/>
                  </a:lnTo>
                  <a:cubicBezTo>
                    <a:pt x="7030" y="18900"/>
                    <a:pt x="5125" y="16180"/>
                    <a:pt x="5125" y="12825"/>
                  </a:cubicBezTo>
                  <a:lnTo>
                    <a:pt x="5125" y="6750"/>
                  </a:lnTo>
                  <a:lnTo>
                    <a:pt x="7962" y="6750"/>
                  </a:lnTo>
                  <a:lnTo>
                    <a:pt x="7962" y="12825"/>
                  </a:lnTo>
                  <a:cubicBezTo>
                    <a:pt x="7962" y="13943"/>
                    <a:pt x="8598" y="14850"/>
                    <a:pt x="9381" y="14850"/>
                  </a:cubicBezTo>
                  <a:lnTo>
                    <a:pt x="10800" y="14850"/>
                  </a:lnTo>
                  <a:cubicBezTo>
                    <a:pt x="11584" y="14850"/>
                    <a:pt x="12219" y="13943"/>
                    <a:pt x="12219" y="12825"/>
                  </a:cubicBezTo>
                  <a:lnTo>
                    <a:pt x="12219" y="6750"/>
                  </a:lnTo>
                  <a:lnTo>
                    <a:pt x="10800" y="6750"/>
                  </a:lnTo>
                  <a:lnTo>
                    <a:pt x="13638" y="2700"/>
                  </a:lnTo>
                  <a:close/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flat">
              <a:solidFill>
                <a:srgbClr val="00121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398;p17"/>
          <p:cNvGrpSpPr/>
          <p:nvPr/>
        </p:nvGrpSpPr>
        <p:grpSpPr>
          <a:xfrm>
            <a:off x="2031994" y="1942128"/>
            <a:ext cx="7515870" cy="3059902"/>
            <a:chOff x="-3" y="-3"/>
            <a:chExt cx="7515869" cy="3059901"/>
          </a:xfrm>
        </p:grpSpPr>
        <p:sp>
          <p:nvSpPr>
            <p:cNvPr id="614" name="Google Shape;399;p17"/>
            <p:cNvSpPr/>
            <p:nvPr/>
          </p:nvSpPr>
          <p:spPr>
            <a:xfrm>
              <a:off x="0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17" name="Google Shape;400;p17"/>
            <p:cNvGrpSpPr/>
            <p:nvPr/>
          </p:nvGrpSpPr>
          <p:grpSpPr>
            <a:xfrm>
              <a:off x="-3" y="-3"/>
              <a:ext cx="2348715" cy="1409228"/>
              <a:chOff x="-2" y="-1"/>
              <a:chExt cx="2348714" cy="1409227"/>
            </a:xfrm>
          </p:grpSpPr>
          <p:sp>
            <p:nvSpPr>
              <p:cNvPr id="615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16" name="Läser ny position 9us"/>
              <p:cNvSpPr txBox="1"/>
              <p:nvPr/>
            </p:nvSpPr>
            <p:spPr>
              <a:xfrm>
                <a:off x="19048" y="510717"/>
                <a:ext cx="2310614" cy="3877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rPr dirty="0" err="1"/>
                  <a:t>Läser</a:t>
                </a:r>
                <a:r>
                  <a:rPr dirty="0"/>
                  <a:t> </a:t>
                </a:r>
                <a:r>
                  <a:rPr dirty="0" err="1"/>
                  <a:t>ny</a:t>
                </a:r>
                <a:r>
                  <a:rPr dirty="0"/>
                  <a:t> position 9</a:t>
                </a:r>
                <a:r>
                  <a:rPr lang="en-SE" dirty="0"/>
                  <a:t>µs</a:t>
                </a:r>
                <a:endParaRPr dirty="0"/>
              </a:p>
            </p:txBody>
          </p:sp>
        </p:grpSp>
        <p:sp>
          <p:nvSpPr>
            <p:cNvPr id="618" name="Google Shape;401;p17"/>
            <p:cNvSpPr/>
            <p:nvPr/>
          </p:nvSpPr>
          <p:spPr>
            <a:xfrm>
              <a:off x="2583576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1" name="Google Shape;402;p17"/>
            <p:cNvGrpSpPr/>
            <p:nvPr/>
          </p:nvGrpSpPr>
          <p:grpSpPr>
            <a:xfrm>
              <a:off x="2583574" y="-2"/>
              <a:ext cx="2348713" cy="1409227"/>
              <a:chOff x="-1" y="0"/>
              <a:chExt cx="2348712" cy="1409226"/>
            </a:xfrm>
          </p:grpSpPr>
          <p:sp>
            <p:nvSpPr>
              <p:cNvPr id="619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0" name="Läser ny position varje 16 us efter charge-puls fallande flank"/>
              <p:cNvSpPr txBox="1"/>
              <p:nvPr/>
            </p:nvSpPr>
            <p:spPr>
              <a:xfrm>
                <a:off x="19048" y="119146"/>
                <a:ext cx="2310614" cy="11709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Läser ny position varje 16 us efter charge-puls fallande flank</a:t>
                </a:r>
              </a:p>
            </p:txBody>
          </p:sp>
        </p:grpSp>
        <p:sp>
          <p:nvSpPr>
            <p:cNvPr id="622" name="Google Shape;403;p17"/>
            <p:cNvSpPr/>
            <p:nvPr/>
          </p:nvSpPr>
          <p:spPr>
            <a:xfrm>
              <a:off x="5167155" y="-1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5" name="Google Shape;404;p17"/>
            <p:cNvGrpSpPr/>
            <p:nvPr/>
          </p:nvGrpSpPr>
          <p:grpSpPr>
            <a:xfrm>
              <a:off x="5167153" y="-2"/>
              <a:ext cx="2348713" cy="1409227"/>
              <a:chOff x="-1" y="0"/>
              <a:chExt cx="2348712" cy="1409226"/>
            </a:xfrm>
          </p:grpSpPr>
          <p:sp>
            <p:nvSpPr>
              <p:cNvPr id="623" name="Rektangel"/>
              <p:cNvSpPr/>
              <p:nvPr/>
            </p:nvSpPr>
            <p:spPr>
              <a:xfrm>
                <a:off x="-2" y="-1"/>
                <a:ext cx="2348714" cy="1409227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4" name="Validerad på hårdvara"/>
              <p:cNvSpPr txBox="1"/>
              <p:nvPr/>
            </p:nvSpPr>
            <p:spPr>
              <a:xfrm>
                <a:off x="19048" y="370606"/>
                <a:ext cx="2310614" cy="668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Validerad på hårdvara</a:t>
                </a:r>
              </a:p>
            </p:txBody>
          </p:sp>
        </p:grpSp>
        <p:sp>
          <p:nvSpPr>
            <p:cNvPr id="626" name="Google Shape;405;p17"/>
            <p:cNvSpPr/>
            <p:nvPr/>
          </p:nvSpPr>
          <p:spPr>
            <a:xfrm>
              <a:off x="1291788" y="1644096"/>
              <a:ext cx="2348709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29" name="Google Shape;406;p17"/>
            <p:cNvGrpSpPr/>
            <p:nvPr/>
          </p:nvGrpSpPr>
          <p:grpSpPr>
            <a:xfrm>
              <a:off x="1291786" y="1644096"/>
              <a:ext cx="2348713" cy="1409228"/>
              <a:chOff x="-1" y="0"/>
              <a:chExt cx="2348712" cy="1409227"/>
            </a:xfrm>
          </p:grpSpPr>
          <p:sp>
            <p:nvSpPr>
              <p:cNvPr id="627" name="Rektangel"/>
              <p:cNvSpPr/>
              <p:nvPr/>
            </p:nvSpPr>
            <p:spPr>
              <a:xfrm>
                <a:off x="-2" y="-1"/>
                <a:ext cx="2348714" cy="1409229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28" name="Testas med pythonskript"/>
              <p:cNvSpPr txBox="1"/>
              <p:nvPr/>
            </p:nvSpPr>
            <p:spPr>
              <a:xfrm>
                <a:off x="19048" y="370606"/>
                <a:ext cx="2310614" cy="668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Testas med pythonskript</a:t>
                </a:r>
              </a:p>
            </p:txBody>
          </p:sp>
        </p:grpSp>
        <p:sp>
          <p:nvSpPr>
            <p:cNvPr id="630" name="Google Shape;407;p17"/>
            <p:cNvSpPr/>
            <p:nvPr/>
          </p:nvSpPr>
          <p:spPr>
            <a:xfrm>
              <a:off x="3875366" y="1644096"/>
              <a:ext cx="2348708" cy="1409226"/>
            </a:xfrm>
            <a:prstGeom prst="rect">
              <a:avLst/>
            </a:prstGeom>
            <a:solidFill>
              <a:schemeClr val="accent1"/>
            </a:solidFill>
            <a:ln w="12700" cap="flat">
              <a:solidFill>
                <a:srgbClr val="FFFFFF"/>
              </a:solidFill>
              <a:prstDash val="solid"/>
              <a:miter lim="8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endParaRPr/>
            </a:p>
          </p:txBody>
        </p:sp>
        <p:grpSp>
          <p:nvGrpSpPr>
            <p:cNvPr id="633" name="Google Shape;408;p17"/>
            <p:cNvGrpSpPr/>
            <p:nvPr/>
          </p:nvGrpSpPr>
          <p:grpSpPr>
            <a:xfrm>
              <a:off x="3875365" y="1637511"/>
              <a:ext cx="2348711" cy="1422387"/>
              <a:chOff x="0" y="0"/>
              <a:chExt cx="2348710" cy="1422385"/>
            </a:xfrm>
          </p:grpSpPr>
          <p:sp>
            <p:nvSpPr>
              <p:cNvPr id="631" name="Rektangel"/>
              <p:cNvSpPr/>
              <p:nvPr/>
            </p:nvSpPr>
            <p:spPr>
              <a:xfrm>
                <a:off x="-1" y="6583"/>
                <a:ext cx="2348711" cy="1409230"/>
              </a:xfrm>
              <a:prstGeom prst="rect">
                <a:avLst/>
              </a:prstGeom>
              <a:solidFill>
                <a:schemeClr val="accent2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90000"/>
                  </a:lnSpc>
                  <a:defRPr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endParaRPr/>
              </a:p>
            </p:txBody>
          </p:sp>
          <p:sp>
            <p:nvSpPr>
              <p:cNvPr id="632" name="Om ingen charge-puls fallande flank detekterad, positionen läses ändå"/>
              <p:cNvSpPr txBox="1"/>
              <p:nvPr/>
            </p:nvSpPr>
            <p:spPr>
              <a:xfrm>
                <a:off x="19049" y="-1"/>
                <a:ext cx="2310612" cy="14223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68573" tIns="68573" rIns="68573" bIns="68573" numCol="1" anchor="ctr">
                <a:spAutoFit/>
              </a:bodyPr>
              <a:lstStyle>
                <a:lvl1pPr algn="ctr">
                  <a:lnSpc>
                    <a:spcPct val="90000"/>
                  </a:lnSpc>
                  <a:defRPr sz="1800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defRPr>
                </a:lvl1pPr>
              </a:lstStyle>
              <a:p>
                <a:r>
                  <a:t>Om ingen charge-puls fallande flank detekterad, positionen läses ändå</a:t>
                </a:r>
              </a:p>
            </p:txBody>
          </p:sp>
        </p:grpSp>
      </p:grpSp>
      <p:sp>
        <p:nvSpPr>
          <p:cNvPr id="635" name="Google Shape;409;p17"/>
          <p:cNvSpPr txBox="1"/>
          <p:nvPr/>
        </p:nvSpPr>
        <p:spPr>
          <a:xfrm>
            <a:off x="2308862" y="670559"/>
            <a:ext cx="2491734" cy="637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3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Encoder</a:t>
            </a:r>
          </a:p>
        </p:txBody>
      </p:sp>
      <p:pic>
        <p:nvPicPr>
          <p:cNvPr id="636" name="Graphic 2" descr="Graphic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940" y="453098"/>
            <a:ext cx="914403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639" name="Picture 4" descr="Picture 4"/>
          <p:cNvPicPr>
            <a:picLocks noChangeAspect="1"/>
          </p:cNvPicPr>
          <p:nvPr/>
        </p:nvPicPr>
        <p:blipFill>
          <a:blip r:embed="rId2"/>
          <a:srcRect t="10440" r="23742" b="12042"/>
          <a:stretch>
            <a:fillRect/>
          </a:stretch>
        </p:blipFill>
        <p:spPr>
          <a:xfrm>
            <a:off x="4139127" y="534114"/>
            <a:ext cx="7979434" cy="6083412"/>
          </a:xfrm>
          <a:prstGeom prst="rect">
            <a:avLst/>
          </a:prstGeom>
          <a:ln w="12700">
            <a:miter lim="400000"/>
          </a:ln>
        </p:spPr>
      </p:pic>
      <p:sp>
        <p:nvSpPr>
          <p:cNvPr id="640" name="TextBox 6"/>
          <p:cNvSpPr txBox="1"/>
          <p:nvPr/>
        </p:nvSpPr>
        <p:spPr>
          <a:xfrm>
            <a:off x="4252532" y="4226419"/>
            <a:ext cx="6003126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 data</a:t>
            </a:r>
          </a:p>
        </p:txBody>
      </p:sp>
      <p:sp>
        <p:nvSpPr>
          <p:cNvPr id="641" name="TextBox 8"/>
          <p:cNvSpPr txBox="1"/>
          <p:nvPr/>
        </p:nvSpPr>
        <p:spPr>
          <a:xfrm>
            <a:off x="4252532" y="3275110"/>
            <a:ext cx="6003126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42" name="TextBox 9"/>
          <p:cNvSpPr txBox="1"/>
          <p:nvPr/>
        </p:nvSpPr>
        <p:spPr>
          <a:xfrm>
            <a:off x="4252533" y="1742114"/>
            <a:ext cx="1168019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E09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 err="1">
                <a:highlight>
                  <a:srgbClr val="000000"/>
                </a:highlight>
              </a:rPr>
              <a:t>Encoder_clk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43" name="TextBox 10"/>
          <p:cNvSpPr txBox="1"/>
          <p:nvPr/>
        </p:nvSpPr>
        <p:spPr>
          <a:xfrm>
            <a:off x="4252533" y="2458298"/>
            <a:ext cx="1797748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92D05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Encoder data</a:t>
            </a:r>
          </a:p>
        </p:txBody>
      </p:sp>
      <p:sp>
        <p:nvSpPr>
          <p:cNvPr id="644" name="TextBox 12"/>
          <p:cNvSpPr txBox="1"/>
          <p:nvPr/>
        </p:nvSpPr>
        <p:spPr>
          <a:xfrm>
            <a:off x="552091" y="1873518"/>
            <a:ext cx="2415396" cy="56133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t>ny position varje 16 us efter charge-puls fallande flank</a:t>
            </a:r>
          </a:p>
        </p:txBody>
      </p:sp>
      <p:sp>
        <p:nvSpPr>
          <p:cNvPr id="645" name="Straight Arrow Connector 14"/>
          <p:cNvSpPr/>
          <p:nvPr/>
        </p:nvSpPr>
        <p:spPr>
          <a:xfrm flipV="1">
            <a:off x="3045123" y="1604512"/>
            <a:ext cx="4753159" cy="853788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48" name="TextBox 4"/>
          <p:cNvSpPr txBox="1"/>
          <p:nvPr/>
        </p:nvSpPr>
        <p:spPr>
          <a:xfrm>
            <a:off x="-2" y="930870"/>
            <a:ext cx="4388693" cy="480127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n-SE" dirty="0">
                <a:sym typeface="Roboto Light"/>
              </a:rPr>
              <a:t>Om </a:t>
            </a:r>
            <a:r>
              <a:rPr lang="en-SE" dirty="0" err="1">
                <a:sym typeface="Roboto Light"/>
              </a:rPr>
              <a:t>ingen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fallande</a:t>
            </a:r>
            <a:r>
              <a:rPr lang="en-SE" dirty="0">
                <a:sym typeface="Roboto Light"/>
              </a:rPr>
              <a:t> flank </a:t>
            </a:r>
            <a:r>
              <a:rPr lang="en-SE" dirty="0" err="1">
                <a:sym typeface="Roboto Light"/>
              </a:rPr>
              <a:t>detekteras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på</a:t>
            </a:r>
            <a:br>
              <a:rPr lang="en-SE" dirty="0">
                <a:sym typeface="Roboto Light"/>
              </a:rPr>
            </a:br>
            <a:r>
              <a:rPr lang="en-SE" dirty="0">
                <a:sym typeface="Roboto Light"/>
              </a:rPr>
              <a:t>charge-</a:t>
            </a:r>
            <a:r>
              <a:rPr lang="en-SE" dirty="0" err="1">
                <a:sym typeface="Roboto Light"/>
              </a:rPr>
              <a:t>pulsen</a:t>
            </a:r>
            <a:r>
              <a:rPr lang="en-SE" dirty="0">
                <a:sym typeface="Roboto Light"/>
              </a:rPr>
              <a:t>, </a:t>
            </a:r>
            <a:r>
              <a:rPr lang="en-SE" dirty="0" err="1">
                <a:sym typeface="Roboto Light"/>
              </a:rPr>
              <a:t>läses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positionen</a:t>
            </a:r>
            <a:r>
              <a:rPr lang="en-SE" dirty="0">
                <a:sym typeface="Roboto Light"/>
              </a:rPr>
              <a:t> </a:t>
            </a:r>
            <a:r>
              <a:rPr lang="en-SE" dirty="0" err="1">
                <a:sym typeface="Roboto Light"/>
              </a:rPr>
              <a:t>ändå</a:t>
            </a:r>
            <a:endParaRPr dirty="0"/>
          </a:p>
        </p:txBody>
      </p:sp>
      <p:pic>
        <p:nvPicPr>
          <p:cNvPr id="649" name="Picture 8" descr="Picture 8"/>
          <p:cNvPicPr>
            <a:picLocks noChangeAspect="1"/>
          </p:cNvPicPr>
          <p:nvPr/>
        </p:nvPicPr>
        <p:blipFill>
          <a:blip r:embed="rId2"/>
          <a:srcRect l="1039" t="334" r="29499" b="26710"/>
          <a:stretch>
            <a:fillRect/>
          </a:stretch>
        </p:blipFill>
        <p:spPr>
          <a:xfrm>
            <a:off x="5597373" y="534114"/>
            <a:ext cx="6351388" cy="5003321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TextBox 10"/>
          <p:cNvSpPr txBox="1"/>
          <p:nvPr/>
        </p:nvSpPr>
        <p:spPr>
          <a:xfrm>
            <a:off x="5685766" y="2021820"/>
            <a:ext cx="6003127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E09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 err="1">
                <a:highlight>
                  <a:srgbClr val="000000"/>
                </a:highlight>
              </a:rPr>
              <a:t>Encoder_clk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51" name="TextBox 12"/>
          <p:cNvSpPr txBox="1"/>
          <p:nvPr/>
        </p:nvSpPr>
        <p:spPr>
          <a:xfrm>
            <a:off x="5685766" y="2808521"/>
            <a:ext cx="6003127" cy="307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92D05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Encoder data</a:t>
            </a:r>
          </a:p>
        </p:txBody>
      </p:sp>
      <p:sp>
        <p:nvSpPr>
          <p:cNvPr id="652" name="TextBox 14"/>
          <p:cNvSpPr txBox="1"/>
          <p:nvPr/>
        </p:nvSpPr>
        <p:spPr>
          <a:xfrm>
            <a:off x="5685766" y="3706583"/>
            <a:ext cx="6003127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5FB6D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Charge </a:t>
            </a:r>
            <a:r>
              <a:rPr dirty="0" err="1">
                <a:highlight>
                  <a:srgbClr val="000000"/>
                </a:highlight>
              </a:rPr>
              <a:t>puls</a:t>
            </a:r>
            <a:endParaRPr dirty="0">
              <a:highlight>
                <a:srgbClr val="000000"/>
              </a:highlight>
            </a:endParaRPr>
          </a:p>
        </p:txBody>
      </p:sp>
      <p:sp>
        <p:nvSpPr>
          <p:cNvPr id="653" name="TextBox 16"/>
          <p:cNvSpPr txBox="1"/>
          <p:nvPr/>
        </p:nvSpPr>
        <p:spPr>
          <a:xfrm>
            <a:off x="5685767" y="3428999"/>
            <a:ext cx="613154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>
                <a:solidFill>
                  <a:srgbClr val="ED8FD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>
                <a:highlight>
                  <a:srgbClr val="000000"/>
                </a:highlight>
              </a:rPr>
              <a:t>SSI data</a:t>
            </a:r>
          </a:p>
        </p:txBody>
      </p:sp>
      <p:sp>
        <p:nvSpPr>
          <p:cNvPr id="654" name="Straight Arrow Connector 18"/>
          <p:cNvSpPr/>
          <p:nvPr/>
        </p:nvSpPr>
        <p:spPr>
          <a:xfrm>
            <a:off x="4459856" y="1259457"/>
            <a:ext cx="2760455" cy="1621769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55" name="TextBox 19"/>
          <p:cNvSpPr txBox="1"/>
          <p:nvPr/>
        </p:nvSpPr>
        <p:spPr>
          <a:xfrm>
            <a:off x="914400" y="3982406"/>
            <a:ext cx="2070339" cy="307773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</a:lstStyle>
          <a:p>
            <a:r>
              <a:rPr dirty="0" err="1"/>
              <a:t>Läser</a:t>
            </a:r>
            <a:r>
              <a:rPr dirty="0"/>
              <a:t> </a:t>
            </a:r>
            <a:r>
              <a:rPr dirty="0" err="1"/>
              <a:t>ny</a:t>
            </a:r>
            <a:r>
              <a:rPr dirty="0"/>
              <a:t> position 9</a:t>
            </a:r>
            <a:r>
              <a:rPr lang="en-SE" dirty="0"/>
              <a:t>µs</a:t>
            </a:r>
            <a:endParaRPr dirty="0"/>
          </a:p>
        </p:txBody>
      </p:sp>
      <p:sp>
        <p:nvSpPr>
          <p:cNvPr id="656" name="Straight Arrow Connector 21"/>
          <p:cNvSpPr/>
          <p:nvPr/>
        </p:nvSpPr>
        <p:spPr>
          <a:xfrm flipV="1">
            <a:off x="2984738" y="1958194"/>
            <a:ext cx="5788328" cy="2178103"/>
          </a:xfrm>
          <a:prstGeom prst="line">
            <a:avLst/>
          </a:prstGeom>
          <a:ln>
            <a:solidFill>
              <a:srgbClr val="0086BF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659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105" y="2040437"/>
            <a:ext cx="6049223" cy="2276796"/>
          </a:xfrm>
          <a:prstGeom prst="rect">
            <a:avLst/>
          </a:prstGeom>
          <a:ln w="12700">
            <a:miter lim="400000"/>
          </a:ln>
        </p:spPr>
      </p:pic>
      <p:sp>
        <p:nvSpPr>
          <p:cNvPr id="660" name="TextBox 4"/>
          <p:cNvSpPr txBox="1"/>
          <p:nvPr/>
        </p:nvSpPr>
        <p:spPr>
          <a:xfrm>
            <a:off x="778963" y="724617"/>
            <a:ext cx="3600670" cy="792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Testresultat från pythonskript</a:t>
            </a:r>
          </a:p>
        </p:txBody>
      </p:sp>
      <p:sp>
        <p:nvSpPr>
          <p:cNvPr id="661" name="TextBox 5"/>
          <p:cNvSpPr txBox="1"/>
          <p:nvPr/>
        </p:nvSpPr>
        <p:spPr>
          <a:xfrm>
            <a:off x="733245" y="2717319"/>
            <a:ext cx="2553419" cy="5301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Konfigureras direkt innan testning</a:t>
            </a:r>
          </a:p>
        </p:txBody>
      </p:sp>
      <p:sp>
        <p:nvSpPr>
          <p:cNvPr id="662" name="Straight Arrow Connector 7"/>
          <p:cNvSpPr/>
          <p:nvPr/>
        </p:nvSpPr>
        <p:spPr>
          <a:xfrm flipV="1">
            <a:off x="3286664" y="2717319"/>
            <a:ext cx="1219445" cy="261613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63" name="TextBox 9"/>
          <p:cNvSpPr txBox="1"/>
          <p:nvPr/>
        </p:nvSpPr>
        <p:spPr>
          <a:xfrm>
            <a:off x="3286664" y="5710459"/>
            <a:ext cx="3338424" cy="32692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Riktigt positionsdata från encoder</a:t>
            </a:r>
          </a:p>
        </p:txBody>
      </p:sp>
      <p:sp>
        <p:nvSpPr>
          <p:cNvPr id="664" name="Straight Arrow Connector 11"/>
          <p:cNvSpPr/>
          <p:nvPr/>
        </p:nvSpPr>
        <p:spPr>
          <a:xfrm flipV="1">
            <a:off x="5080958" y="4317229"/>
            <a:ext cx="319181" cy="1367581"/>
          </a:xfrm>
          <a:prstGeom prst="line">
            <a:avLst/>
          </a:prstGeom>
          <a:ln w="25400">
            <a:solidFill>
              <a:schemeClr val="accent3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60387"/>
            <a:ext cx="9144000" cy="6858003"/>
          </a:xfrm>
          <a:prstGeom prst="rect">
            <a:avLst/>
          </a:prstGeom>
          <a:ln w="12700">
            <a:miter lim="400000"/>
          </a:ln>
        </p:spPr>
      </p:pic>
      <p:sp>
        <p:nvSpPr>
          <p:cNvPr id="667" name="TextBox 3"/>
          <p:cNvSpPr txBox="1"/>
          <p:nvPr/>
        </p:nvSpPr>
        <p:spPr>
          <a:xfrm>
            <a:off x="1844325" y="672858"/>
            <a:ext cx="1763242" cy="486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00456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MASTER</a:t>
            </a:r>
          </a:p>
        </p:txBody>
      </p:sp>
      <p:sp>
        <p:nvSpPr>
          <p:cNvPr id="668" name="TextBox 4"/>
          <p:cNvSpPr txBox="1"/>
          <p:nvPr/>
        </p:nvSpPr>
        <p:spPr>
          <a:xfrm>
            <a:off x="7677222" y="1650637"/>
            <a:ext cx="1205400" cy="43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0070B3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SLAVE</a:t>
            </a:r>
          </a:p>
        </p:txBody>
      </p:sp>
      <p:sp>
        <p:nvSpPr>
          <p:cNvPr id="669" name="TextBox 5"/>
          <p:cNvSpPr txBox="1"/>
          <p:nvPr/>
        </p:nvSpPr>
        <p:spPr>
          <a:xfrm>
            <a:off x="8974060" y="4839418"/>
            <a:ext cx="1648219" cy="43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7A135E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ENCODER</a:t>
            </a:r>
          </a:p>
        </p:txBody>
      </p:sp>
      <p:sp>
        <p:nvSpPr>
          <p:cNvPr id="670" name="Straight Arrow Connector 7"/>
          <p:cNvSpPr/>
          <p:nvPr/>
        </p:nvSpPr>
        <p:spPr>
          <a:xfrm>
            <a:off x="2493034" y="1095555"/>
            <a:ext cx="1160255" cy="1232193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71" name="Straight Arrow Connector 9"/>
          <p:cNvSpPr/>
          <p:nvPr/>
        </p:nvSpPr>
        <p:spPr>
          <a:xfrm flipH="1">
            <a:off x="7720642" y="2113471"/>
            <a:ext cx="483081" cy="854017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72" name="Straight Arrow Connector 11"/>
          <p:cNvSpPr/>
          <p:nvPr/>
        </p:nvSpPr>
        <p:spPr>
          <a:xfrm flipV="1">
            <a:off x="9627079" y="3157266"/>
            <a:ext cx="422695" cy="1682153"/>
          </a:xfrm>
          <a:prstGeom prst="line">
            <a:avLst/>
          </a:prstGeom>
          <a:ln w="25400">
            <a:solidFill>
              <a:schemeClr val="accent4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11421564" y="6105487"/>
            <a:ext cx="217110" cy="21839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FB6DC"/>
                </a:solidFill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675" name="Picture 4" descr="Picture 4"/>
          <p:cNvPicPr>
            <a:picLocks noChangeAspect="1"/>
          </p:cNvPicPr>
          <p:nvPr/>
        </p:nvPicPr>
        <p:blipFill>
          <a:blip r:embed="rId2"/>
          <a:srcRect t="27660" r="2177" b="25685"/>
          <a:stretch>
            <a:fillRect/>
          </a:stretch>
        </p:blipFill>
        <p:spPr>
          <a:xfrm>
            <a:off x="3890383" y="310552"/>
            <a:ext cx="3099995" cy="3510558"/>
          </a:xfrm>
          <a:prstGeom prst="rect">
            <a:avLst/>
          </a:prstGeom>
          <a:ln w="12700">
            <a:miter lim="400000"/>
          </a:ln>
        </p:spPr>
      </p:pic>
      <p:sp>
        <p:nvSpPr>
          <p:cNvPr id="676" name="TextBox 5"/>
          <p:cNvSpPr txBox="1"/>
          <p:nvPr/>
        </p:nvSpPr>
        <p:spPr>
          <a:xfrm>
            <a:off x="3064961" y="4252821"/>
            <a:ext cx="5576120" cy="60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Tack för uppmärksamhet!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Leine &amp; Linde">
  <a:themeElements>
    <a:clrScheme name="1_Leine &amp; Linde">
      <a:dk1>
        <a:srgbClr val="000000"/>
      </a:dk1>
      <a:lt1>
        <a:srgbClr val="002B45"/>
      </a:lt1>
      <a:dk2>
        <a:srgbClr val="A7A7A7"/>
      </a:dk2>
      <a:lt2>
        <a:srgbClr val="535353"/>
      </a:lt2>
      <a:accent1>
        <a:srgbClr val="002B45"/>
      </a:accent1>
      <a:accent2>
        <a:srgbClr val="005C84"/>
      </a:accent2>
      <a:accent3>
        <a:srgbClr val="0089C4"/>
      </a:accent3>
      <a:accent4>
        <a:srgbClr val="A31A7E"/>
      </a:accent4>
      <a:accent5>
        <a:srgbClr val="F0AB00"/>
      </a:accent5>
      <a:accent6>
        <a:srgbClr val="D1D4D3"/>
      </a:accent6>
      <a:hlink>
        <a:srgbClr val="0000FF"/>
      </a:hlink>
      <a:folHlink>
        <a:srgbClr val="FF00FF"/>
      </a:folHlink>
    </a:clrScheme>
    <a:fontScheme name="1_Leine &amp; Lind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Leine &amp; Lin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Leine &amp; Linde">
  <a:themeElements>
    <a:clrScheme name="1_Leine &amp; Lind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2B45"/>
      </a:accent1>
      <a:accent2>
        <a:srgbClr val="005C84"/>
      </a:accent2>
      <a:accent3>
        <a:srgbClr val="0089C4"/>
      </a:accent3>
      <a:accent4>
        <a:srgbClr val="A31A7E"/>
      </a:accent4>
      <a:accent5>
        <a:srgbClr val="F0AB00"/>
      </a:accent5>
      <a:accent6>
        <a:srgbClr val="D1D4D3"/>
      </a:accent6>
      <a:hlink>
        <a:srgbClr val="0000FF"/>
      </a:hlink>
      <a:folHlink>
        <a:srgbClr val="FF00FF"/>
      </a:folHlink>
    </a:clrScheme>
    <a:fontScheme name="1_Leine &amp; Lind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1_Leine &amp; Lin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428</Words>
  <Application>Microsoft Office PowerPoint</Application>
  <PresentationFormat>Bredbild</PresentationFormat>
  <Paragraphs>155</Paragraphs>
  <Slides>20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20</vt:i4>
      </vt:variant>
    </vt:vector>
  </HeadingPairs>
  <TitlesOfParts>
    <vt:vector size="25" baseType="lpstr">
      <vt:lpstr>Arial</vt:lpstr>
      <vt:lpstr>Helvetica</vt:lpstr>
      <vt:lpstr>Roboto Light</vt:lpstr>
      <vt:lpstr>Roboto Thin</vt:lpstr>
      <vt:lpstr>1_Leine &amp; Linde</vt:lpstr>
      <vt:lpstr>Modifiering av SSI-protokoll </vt:lpstr>
      <vt:lpstr>PowerPoint-presentation</vt:lpstr>
      <vt:lpstr>PowerPoint-presentation</vt:lpstr>
      <vt:lpstr>Original SSI-protokoll  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sasha l</dc:creator>
  <cp:lastModifiedBy>sasha l</cp:lastModifiedBy>
  <cp:revision>2</cp:revision>
  <dcterms:modified xsi:type="dcterms:W3CDTF">2026-06-14T20:03:11Z</dcterms:modified>
</cp:coreProperties>
</file>